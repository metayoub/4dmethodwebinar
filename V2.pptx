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70" r:id="rId7"/>
    <p:sldId id="261" r:id="rId8"/>
    <p:sldId id="271" r:id="rId9"/>
    <p:sldId id="262" r:id="rId10"/>
    <p:sldId id="272" r:id="rId11"/>
    <p:sldId id="275" r:id="rId12"/>
    <p:sldId id="263" r:id="rId13"/>
    <p:sldId id="264" r:id="rId14"/>
    <p:sldId id="273" r:id="rId15"/>
    <p:sldId id="274" r:id="rId16"/>
    <p:sldId id="266" r:id="rId17"/>
    <p:sldId id="268" r:id="rId18"/>
    <p:sldId id="269"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95"/>
    <p:restoredTop sz="46991"/>
  </p:normalViewPr>
  <p:slideViewPr>
    <p:cSldViewPr snapToGrid="0" snapToObjects="1">
      <p:cViewPr varScale="1">
        <p:scale>
          <a:sx n="90" d="100"/>
          <a:sy n="90" d="100"/>
        </p:scale>
        <p:origin x="20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5791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[~1 min]
Hello everyone, and welcome! Thank you for joining today's webinar.
For decades, when a 4D desktop application needed a special interface — a rich text area, a chart, a scheduling grid — we all did the same thing: we went looking for a plugin or a component that could do it. Those tools served us extremely well, and this session is not about criticizing any of them.
Today the game has changed. With Qodly Pro — the web studio that ships INSIDE 4D — and with AI able to write React code, the component you need is no longer something you search for. It's something you describe. You write a small specification: what goes in, what comes out, how it behaves. The AI writes the component. Qodly Pro hosts it, bound to your existing 4D data.
In the next 45 minutes I'll prove it, live, on three real 4D example applications.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[~2 min]
Our first playground is a Tasks Manager — a task list every 4D developer has built at least once. [Show the desktop app live or via screenshots here.]
Look at the desktop form: a list of tasks with categories, due dates, priorities, a percentage slider, and a plain text description. The data model is trivial: a Task table with nine fields, a Category table, and an N-to-1 relation between them.
Now — and this is the point I want to stress — I open Qodly Studio from THIS SAME 4D project. No cloud. No migration. No export. Same structure, same ORDA data model, same business code. Qodly Pro is part of 4D.
Three fields on this form are begging to be modernized: Description, which is plain text today. Percent, a basic slider. And Status, a set of radio buttons. Those are our three live demos.
[Transition] Demo one: let's give Description a real editor.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4EE20-5C1F-D847-912A-14BE13211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662452-FA9D-34FA-859D-F1A26DB5BF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55C805-6CBE-4CB0-DC9D-1F194A26A1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325627-5048-A20A-B2C2-A1071B3483CB}"/>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8646891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93779-962F-A026-EFD5-99CB3047E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1FF0CA-A434-1C45-B245-B75C3F5A21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05590-1CBE-08A1-81E0-FD7B8E4242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B29083-663F-89FD-78FB-1B696F95478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4286451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047D1-9884-1561-3C5D-A8AD81F66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13EA5B-63B5-5641-A9BC-530713C360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16A964-0A1E-E219-03A8-2611FB1125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FD3D1E-518B-F989-7ACA-203129096F2F}"/>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838683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73401-AA95-6ADE-3CB9-43ADFDBAA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95186-BC97-B45A-A294-33F2F1379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13F63A-7BE5-E34B-A7AD-388996EAF0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B66EFD-171F-41F0-6664-35A23A189DC0}"/>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213106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30A9B-747C-DE30-1AF3-9C64E9BBC5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FDE132-2262-3542-8061-7490A0CABA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91A3FE-05E5-9461-3846-AD1F9CBB91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CAF25F-CBC5-1159-0841-D4374F5F0256}"/>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1049065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69CBA-7707-46F3-B4C3-D93FE9BA4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1AB0F-BF87-2AE6-AA2C-F134633251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E04B7E-F483-3B87-9AF7-1D5856AEBC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AA7919-0003-4826-5CE7-417D7D2A9CC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0842037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233"/>
        </a:solidFill>
        <a:effectLst/>
      </p:bgPr>
    </p:bg>
    <p:spTree>
      <p:nvGrpSpPr>
        <p:cNvPr id="1" name=""/>
        <p:cNvGrpSpPr/>
        <p:nvPr/>
      </p:nvGrpSpPr>
      <p:grpSpPr>
        <a:xfrm>
          <a:off x="0" y="0"/>
          <a:ext cx="0" cy="0"/>
          <a:chOff x="0" y="0"/>
          <a:chExt cx="0" cy="0"/>
        </a:xfrm>
      </p:grpSpPr>
      <p:sp>
        <p:nvSpPr>
          <p:cNvPr id="2" name="Shape 0"/>
          <p:cNvSpPr/>
          <p:nvPr/>
        </p:nvSpPr>
        <p:spPr>
          <a:xfrm>
            <a:off x="6949440" y="-1463040"/>
            <a:ext cx="4206240" cy="4206240"/>
          </a:xfrm>
          <a:prstGeom prst="ellipse">
            <a:avLst/>
          </a:prstGeom>
          <a:solidFill>
            <a:srgbClr val="241A47"/>
          </a:solidFill>
          <a:ln/>
        </p:spPr>
        <p:txBody>
          <a:bodyPr/>
          <a:lstStyle/>
          <a:p>
            <a:endParaRPr lang="en-FR"/>
          </a:p>
        </p:txBody>
      </p:sp>
      <p:sp>
        <p:nvSpPr>
          <p:cNvPr id="3" name="Shape 1"/>
          <p:cNvSpPr/>
          <p:nvPr/>
        </p:nvSpPr>
        <p:spPr>
          <a:xfrm>
            <a:off x="-1280160" y="3749040"/>
            <a:ext cx="3108960" cy="3108960"/>
          </a:xfrm>
          <a:prstGeom prst="ellipse">
            <a:avLst/>
          </a:prstGeom>
          <a:solidFill>
            <a:srgbClr val="221845"/>
          </a:solidFill>
          <a:ln/>
        </p:spPr>
        <p:txBody>
          <a:bodyPr/>
          <a:lstStyle/>
          <a:p>
            <a:endParaRPr lang="en-FR"/>
          </a:p>
        </p:txBody>
      </p:sp>
      <p:sp>
        <p:nvSpPr>
          <p:cNvPr id="4" name="Text 2"/>
          <p:cNvSpPr/>
          <p:nvPr/>
        </p:nvSpPr>
        <p:spPr>
          <a:xfrm>
            <a:off x="685800" y="1325880"/>
            <a:ext cx="5486400" cy="320040"/>
          </a:xfrm>
          <a:prstGeom prst="rect">
            <a:avLst/>
          </a:prstGeom>
          <a:noFill/>
          <a:ln/>
        </p:spPr>
        <p:txBody>
          <a:bodyPr wrap="square" lIns="0" tIns="0" rIns="0" bIns="0" rtlCol="0" anchor="ctr"/>
          <a:lstStyle/>
          <a:p>
            <a:pPr marL="0" indent="0">
              <a:buNone/>
            </a:pPr>
            <a:r>
              <a:rPr lang="en-US" sz="1300" b="1" kern="0" spc="400" dirty="0">
                <a:solidFill>
                  <a:srgbClr val="A99BE8"/>
                </a:solidFill>
                <a:latin typeface="Calibri" pitchFamily="34" charset="0"/>
                <a:ea typeface="Calibri" pitchFamily="34" charset="-122"/>
                <a:cs typeface="Calibri" pitchFamily="34" charset="-120"/>
              </a:rPr>
              <a:t>WEBINAR</a:t>
            </a:r>
            <a:endParaRPr lang="en-US" sz="1300" dirty="0"/>
          </a:p>
        </p:txBody>
      </p:sp>
      <p:sp>
        <p:nvSpPr>
          <p:cNvPr id="5" name="Text 3"/>
          <p:cNvSpPr/>
          <p:nvPr/>
        </p:nvSpPr>
        <p:spPr>
          <a:xfrm>
            <a:off x="685800" y="1691640"/>
            <a:ext cx="7863840" cy="118872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Modernize 4D Desktop Applications</a:t>
            </a:r>
            <a:endParaRPr lang="en-US" sz="4000" dirty="0"/>
          </a:p>
        </p:txBody>
      </p:sp>
      <p:sp>
        <p:nvSpPr>
          <p:cNvPr id="6" name="Text 4"/>
          <p:cNvSpPr/>
          <p:nvPr/>
        </p:nvSpPr>
        <p:spPr>
          <a:xfrm>
            <a:off x="685800" y="2880360"/>
            <a:ext cx="7315200" cy="457200"/>
          </a:xfrm>
          <a:prstGeom prst="rect">
            <a:avLst/>
          </a:prstGeom>
          <a:noFill/>
          <a:ln/>
        </p:spPr>
        <p:txBody>
          <a:bodyPr wrap="square" lIns="0" tIns="0" rIns="0" bIns="0" rtlCol="0" anchor="ctr"/>
          <a:lstStyle/>
          <a:p>
            <a:pPr marL="0" indent="0">
              <a:buNone/>
            </a:pPr>
            <a:r>
              <a:rPr lang="en-US" sz="2200" dirty="0">
                <a:solidFill>
                  <a:srgbClr val="CFC8EA"/>
                </a:solidFill>
                <a:latin typeface="Calibri" pitchFamily="34" charset="0"/>
                <a:ea typeface="Calibri" pitchFamily="34" charset="-122"/>
                <a:cs typeface="Calibri" pitchFamily="34" charset="-120"/>
              </a:rPr>
              <a:t>with </a:t>
            </a:r>
            <a:r>
              <a:rPr lang="en-US" sz="2200" b="1" dirty="0">
                <a:solidFill>
                  <a:srgbClr val="FFFFFF"/>
                </a:solidFill>
                <a:latin typeface="Calibri" pitchFamily="34" charset="0"/>
                <a:ea typeface="Calibri" pitchFamily="34" charset="-122"/>
                <a:cs typeface="Calibri" pitchFamily="34" charset="-120"/>
              </a:rPr>
              <a:t>AI</a:t>
            </a:r>
            <a:r>
              <a:rPr lang="en-US" sz="2200" dirty="0">
                <a:solidFill>
                  <a:srgbClr val="CFC8EA"/>
                </a:solidFill>
                <a:latin typeface="Calibri" pitchFamily="34" charset="0"/>
                <a:ea typeface="Calibri" pitchFamily="34" charset="-122"/>
                <a:cs typeface="Calibri" pitchFamily="34" charset="-120"/>
              </a:rPr>
              <a:t> and </a:t>
            </a:r>
            <a:r>
              <a:rPr lang="en-US" sz="2200" b="1" dirty="0">
                <a:solidFill>
                  <a:srgbClr val="FFFFFF"/>
                </a:solidFill>
                <a:latin typeface="Calibri" pitchFamily="34" charset="0"/>
                <a:ea typeface="Calibri" pitchFamily="34" charset="-122"/>
                <a:cs typeface="Calibri" pitchFamily="34" charset="-120"/>
              </a:rPr>
              <a:t>4D Qodly Pro</a:t>
            </a:r>
            <a:endParaRPr lang="en-US" sz="2200" dirty="0"/>
          </a:p>
        </p:txBody>
      </p:sp>
      <p:sp>
        <p:nvSpPr>
          <p:cNvPr id="7" name="Text 5"/>
          <p:cNvSpPr/>
          <p:nvPr/>
        </p:nvSpPr>
        <p:spPr>
          <a:xfrm>
            <a:off x="685800" y="3977640"/>
            <a:ext cx="6858000" cy="320040"/>
          </a:xfrm>
          <a:prstGeom prst="rect">
            <a:avLst/>
          </a:prstGeom>
          <a:noFill/>
          <a:ln/>
        </p:spPr>
        <p:txBody>
          <a:bodyPr wrap="square" lIns="0" tIns="0" rIns="0" bIns="0" rtlCol="0" anchor="ctr"/>
          <a:lstStyle/>
          <a:p>
            <a:pPr marL="0" indent="0">
              <a:buNone/>
            </a:pPr>
            <a:r>
              <a:rPr lang="en-US" sz="1400" i="1" dirty="0">
                <a:solidFill>
                  <a:srgbClr val="8F87AD"/>
                </a:solidFill>
                <a:latin typeface="Calibri" pitchFamily="34" charset="0"/>
                <a:ea typeface="Calibri" pitchFamily="34" charset="-122"/>
                <a:cs typeface="Calibri" pitchFamily="34" charset="-120"/>
              </a:rPr>
              <a:t>From plugin hunting to spec-driven custom components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marL="0" indent="0">
              <a:buNone/>
            </a:pPr>
            <a:r>
              <a:rPr lang="en-US" sz="1200" b="1" kern="0" spc="300" dirty="0">
                <a:solidFill>
                  <a:srgbClr val="6E56CF"/>
                </a:solidFill>
                <a:latin typeface="Calibri" pitchFamily="34" charset="0"/>
                <a:ea typeface="Calibri" pitchFamily="34" charset="-122"/>
                <a:cs typeface="Calibri" pitchFamily="34" charset="-120"/>
              </a:rPr>
              <a:t>THE SHIFT</a:t>
            </a:r>
            <a:endParaRPr lang="en-US" sz="1200" dirty="0"/>
          </a:p>
        </p:txBody>
      </p:sp>
      <p:sp>
        <p:nvSpPr>
          <p:cNvPr id="3" name="Text 1"/>
          <p:cNvSpPr/>
          <p:nvPr/>
        </p:nvSpPr>
        <p:spPr>
          <a:xfrm>
            <a:off x="548640" y="658368"/>
            <a:ext cx="8046720" cy="594360"/>
          </a:xfrm>
          <a:prstGeom prst="rect">
            <a:avLst/>
          </a:prstGeom>
          <a:noFill/>
          <a:ln/>
        </p:spPr>
        <p:txBody>
          <a:bodyPr wrap="square" lIns="0" tIns="0" rIns="0" bIns="0" rtlCol="0" anchor="ctr"/>
          <a:lstStyle/>
          <a:p>
            <a:pPr marL="0" indent="0">
              <a:buNone/>
            </a:pPr>
            <a:r>
              <a:rPr lang="en-US" sz="3000" b="1" dirty="0">
                <a:solidFill>
                  <a:srgbClr val="23202E"/>
                </a:solidFill>
                <a:latin typeface="Calibri" pitchFamily="34" charset="0"/>
                <a:ea typeface="Calibri" pitchFamily="34" charset="-122"/>
                <a:cs typeface="Calibri" pitchFamily="34" charset="-120"/>
              </a:rPr>
              <a:t>Stop searching for a plugin. Start writing a spec.</a:t>
            </a:r>
            <a:endParaRPr lang="en-US" sz="3000" dirty="0"/>
          </a:p>
        </p:txBody>
      </p:sp>
      <p:sp>
        <p:nvSpPr>
          <p:cNvPr id="4" name="Shape 2"/>
          <p:cNvSpPr/>
          <p:nvPr/>
        </p:nvSpPr>
        <p:spPr>
          <a:xfrm>
            <a:off x="548640" y="1600200"/>
            <a:ext cx="3886200" cy="2880360"/>
          </a:xfrm>
          <a:prstGeom prst="roundRect">
            <a:avLst>
              <a:gd name="adj" fmla="val 2222"/>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5" name="Shape 3"/>
          <p:cNvSpPr/>
          <p:nvPr/>
        </p:nvSpPr>
        <p:spPr>
          <a:xfrm>
            <a:off x="868680" y="1920240"/>
            <a:ext cx="566928" cy="566928"/>
          </a:xfrm>
          <a:prstGeom prst="ellipse">
            <a:avLst/>
          </a:prstGeom>
          <a:solidFill>
            <a:srgbClr val="EFEBFA"/>
          </a:solidFill>
          <a:ln/>
        </p:spPr>
        <p:txBody>
          <a:bodyPr/>
          <a:lstStyle/>
          <a:p>
            <a:endParaRPr lang="en-FR"/>
          </a:p>
        </p:txBody>
      </p:sp>
      <p:pic>
        <p:nvPicPr>
          <p:cNvPr id="6" name="Image 0" descr="preencoded.png"/>
          <p:cNvPicPr>
            <a:picLocks noChangeAspect="1"/>
          </p:cNvPicPr>
          <p:nvPr/>
        </p:nvPicPr>
        <p:blipFill>
          <a:blip r:embed="rId3"/>
          <a:stretch>
            <a:fillRect/>
          </a:stretch>
        </p:blipFill>
        <p:spPr>
          <a:xfrm>
            <a:off x="1021751" y="2073311"/>
            <a:ext cx="260787" cy="260787"/>
          </a:xfrm>
          <a:prstGeom prst="rect">
            <a:avLst/>
          </a:prstGeom>
        </p:spPr>
      </p:pic>
      <p:sp>
        <p:nvSpPr>
          <p:cNvPr id="7" name="Text 4"/>
          <p:cNvSpPr/>
          <p:nvPr/>
        </p:nvSpPr>
        <p:spPr>
          <a:xfrm>
            <a:off x="1600200" y="1984248"/>
            <a:ext cx="2560320" cy="457200"/>
          </a:xfrm>
          <a:prstGeom prst="rect">
            <a:avLst/>
          </a:prstGeom>
          <a:noFill/>
          <a:ln/>
        </p:spPr>
        <p:txBody>
          <a:bodyPr wrap="square" lIns="0" tIns="0" rIns="0" bIns="0" rtlCol="0" anchor="ctr"/>
          <a:lstStyle/>
          <a:p>
            <a:pPr marL="0" indent="0">
              <a:buNone/>
            </a:pPr>
            <a:r>
              <a:rPr lang="en-US" sz="1800" b="1" dirty="0">
                <a:solidFill>
                  <a:srgbClr val="23202E"/>
                </a:solidFill>
                <a:latin typeface="Calibri" pitchFamily="34" charset="0"/>
                <a:ea typeface="Calibri" pitchFamily="34" charset="-122"/>
                <a:cs typeface="Calibri" pitchFamily="34" charset="-120"/>
              </a:rPr>
              <a:t>Yesterday</a:t>
            </a:r>
            <a:endParaRPr lang="en-US" sz="1800" dirty="0"/>
          </a:p>
        </p:txBody>
      </p:sp>
      <p:sp>
        <p:nvSpPr>
          <p:cNvPr id="8" name="Text 5"/>
          <p:cNvSpPr/>
          <p:nvPr/>
        </p:nvSpPr>
        <p:spPr>
          <a:xfrm>
            <a:off x="914400" y="2651760"/>
            <a:ext cx="3246120" cy="1645920"/>
          </a:xfrm>
          <a:prstGeom prst="rect">
            <a:avLst/>
          </a:prstGeom>
          <a:noFill/>
          <a:ln/>
        </p:spPr>
        <p:txBody>
          <a:bodyPr wrap="square" lIns="0" tIns="0" rIns="0" bIns="0" rtlCol="0" anchor="ctr"/>
          <a:lstStyle/>
          <a:p>
            <a:pPr marL="342900" indent="-342900">
              <a:lnSpc>
                <a:spcPts val="2200"/>
              </a:lnSpc>
              <a:buSzPct val="100000"/>
              <a:buChar char="•"/>
            </a:pPr>
            <a:r>
              <a:rPr lang="en-US" sz="1350" dirty="0">
                <a:solidFill>
                  <a:srgbClr val="6F6B7D"/>
                </a:solidFill>
                <a:latin typeface="Calibri" pitchFamily="34" charset="0"/>
                <a:ea typeface="Calibri" pitchFamily="34" charset="-122"/>
                <a:cs typeface="Calibri" pitchFamily="34" charset="-120"/>
              </a:rPr>
              <a:t>Search for a component that does X</a:t>
            </a:r>
            <a:endParaRPr lang="en-US" sz="1350" dirty="0"/>
          </a:p>
          <a:p>
            <a:pPr marL="342900" indent="-342900">
              <a:lnSpc>
                <a:spcPts val="2200"/>
              </a:lnSpc>
              <a:buSzPct val="100000"/>
              <a:buChar char="•"/>
            </a:pPr>
            <a:r>
              <a:rPr lang="en-US" sz="1350" dirty="0">
                <a:solidFill>
                  <a:srgbClr val="6F6B7D"/>
                </a:solidFill>
                <a:latin typeface="Calibri" pitchFamily="34" charset="0"/>
                <a:ea typeface="Calibri" pitchFamily="34" charset="-122"/>
                <a:cs typeface="Calibri" pitchFamily="34" charset="-120"/>
              </a:rPr>
              <a:t>Adapt your need to what it offers</a:t>
            </a:r>
            <a:endParaRPr lang="en-US" sz="1350" dirty="0"/>
          </a:p>
          <a:p>
            <a:pPr marL="342900" indent="-342900">
              <a:lnSpc>
                <a:spcPts val="2200"/>
              </a:lnSpc>
              <a:buSzPct val="100000"/>
              <a:buChar char="•"/>
            </a:pPr>
            <a:r>
              <a:rPr lang="en-US" sz="1350" dirty="0">
                <a:solidFill>
                  <a:srgbClr val="6F6B7D"/>
                </a:solidFill>
                <a:latin typeface="Calibri" pitchFamily="34" charset="0"/>
                <a:ea typeface="Calibri" pitchFamily="34" charset="-122"/>
                <a:cs typeface="Calibri" pitchFamily="34" charset="-120"/>
              </a:rPr>
              <a:t>Depend on its author for fixes</a:t>
            </a:r>
            <a:endParaRPr lang="en-US" sz="1350" dirty="0"/>
          </a:p>
          <a:p>
            <a:pPr marL="342900" indent="-342900">
              <a:lnSpc>
                <a:spcPts val="2200"/>
              </a:lnSpc>
              <a:buSzPct val="100000"/>
              <a:buChar char="•"/>
            </a:pPr>
            <a:r>
              <a:rPr lang="en-US" sz="1350" dirty="0">
                <a:solidFill>
                  <a:srgbClr val="6F6B7D"/>
                </a:solidFill>
                <a:latin typeface="Calibri" pitchFamily="34" charset="0"/>
                <a:ea typeface="Calibri" pitchFamily="34" charset="-122"/>
                <a:cs typeface="Calibri" pitchFamily="34" charset="-120"/>
              </a:rPr>
              <a:t>Desktop-only, hard to bring to the web</a:t>
            </a:r>
            <a:endParaRPr lang="en-US" sz="1350" dirty="0"/>
          </a:p>
        </p:txBody>
      </p:sp>
      <p:sp>
        <p:nvSpPr>
          <p:cNvPr id="9" name="Shape 6"/>
          <p:cNvSpPr/>
          <p:nvPr/>
        </p:nvSpPr>
        <p:spPr>
          <a:xfrm>
            <a:off x="4709160" y="1600200"/>
            <a:ext cx="3886200" cy="2880360"/>
          </a:xfrm>
          <a:prstGeom prst="roundRect">
            <a:avLst>
              <a:gd name="adj" fmla="val 2222"/>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10" name="Shape 7"/>
          <p:cNvSpPr/>
          <p:nvPr/>
        </p:nvSpPr>
        <p:spPr>
          <a:xfrm>
            <a:off x="5029200" y="1920240"/>
            <a:ext cx="566928" cy="566928"/>
          </a:xfrm>
          <a:prstGeom prst="ellipse">
            <a:avLst/>
          </a:prstGeom>
          <a:solidFill>
            <a:srgbClr val="EFEBFA"/>
          </a:solidFill>
          <a:ln/>
        </p:spPr>
        <p:txBody>
          <a:bodyPr/>
          <a:lstStyle/>
          <a:p>
            <a:endParaRPr lang="en-FR"/>
          </a:p>
        </p:txBody>
      </p:sp>
      <p:pic>
        <p:nvPicPr>
          <p:cNvPr id="11" name="Image 1" descr="preencoded.png"/>
          <p:cNvPicPr>
            <a:picLocks noChangeAspect="1"/>
          </p:cNvPicPr>
          <p:nvPr/>
        </p:nvPicPr>
        <p:blipFill>
          <a:blip r:embed="rId4"/>
          <a:stretch>
            <a:fillRect/>
          </a:stretch>
        </p:blipFill>
        <p:spPr>
          <a:xfrm>
            <a:off x="5182271" y="2073311"/>
            <a:ext cx="260787" cy="260787"/>
          </a:xfrm>
          <a:prstGeom prst="rect">
            <a:avLst/>
          </a:prstGeom>
        </p:spPr>
      </p:pic>
      <p:sp>
        <p:nvSpPr>
          <p:cNvPr id="12" name="Text 8"/>
          <p:cNvSpPr/>
          <p:nvPr/>
        </p:nvSpPr>
        <p:spPr>
          <a:xfrm>
            <a:off x="5760720" y="1984248"/>
            <a:ext cx="2560320" cy="457200"/>
          </a:xfrm>
          <a:prstGeom prst="rect">
            <a:avLst/>
          </a:prstGeom>
          <a:noFill/>
          <a:ln/>
        </p:spPr>
        <p:txBody>
          <a:bodyPr wrap="square" lIns="0" tIns="0" rIns="0" bIns="0" rtlCol="0" anchor="ctr"/>
          <a:lstStyle/>
          <a:p>
            <a:pPr marL="0" indent="0">
              <a:buNone/>
            </a:pPr>
            <a:r>
              <a:rPr lang="en-US" sz="1800" b="1" dirty="0">
                <a:solidFill>
                  <a:srgbClr val="23202E"/>
                </a:solidFill>
                <a:latin typeface="Calibri" pitchFamily="34" charset="0"/>
                <a:ea typeface="Calibri" pitchFamily="34" charset="-122"/>
                <a:cs typeface="Calibri" pitchFamily="34" charset="-120"/>
              </a:rPr>
              <a:t>Today</a:t>
            </a:r>
            <a:endParaRPr lang="en-US" sz="1800" dirty="0"/>
          </a:p>
        </p:txBody>
      </p:sp>
      <p:sp>
        <p:nvSpPr>
          <p:cNvPr id="13" name="Text 9"/>
          <p:cNvSpPr/>
          <p:nvPr/>
        </p:nvSpPr>
        <p:spPr>
          <a:xfrm>
            <a:off x="5074920" y="2651760"/>
            <a:ext cx="3246120" cy="1645920"/>
          </a:xfrm>
          <a:prstGeom prst="rect">
            <a:avLst/>
          </a:prstGeom>
          <a:noFill/>
          <a:ln/>
        </p:spPr>
        <p:txBody>
          <a:bodyPr wrap="square" lIns="0" tIns="0" rIns="0" bIns="0" rtlCol="0" anchor="ctr"/>
          <a:lstStyle/>
          <a:p>
            <a:pPr marL="342900" indent="-342900">
              <a:lnSpc>
                <a:spcPts val="2200"/>
              </a:lnSpc>
              <a:buSzPct val="100000"/>
              <a:buChar char="•"/>
            </a:pPr>
            <a:r>
              <a:rPr lang="en-US" sz="1350" dirty="0">
                <a:solidFill>
                  <a:srgbClr val="23202E"/>
                </a:solidFill>
                <a:latin typeface="Calibri" pitchFamily="34" charset="0"/>
                <a:ea typeface="Calibri" pitchFamily="34" charset="-122"/>
                <a:cs typeface="Calibri" pitchFamily="34" charset="-120"/>
              </a:rPr>
              <a:t>Describe inputs, outputs, behavior</a:t>
            </a:r>
            <a:endParaRPr lang="en-US" sz="1350" dirty="0"/>
          </a:p>
          <a:p>
            <a:pPr marL="342900" indent="-342900">
              <a:lnSpc>
                <a:spcPts val="2200"/>
              </a:lnSpc>
              <a:buSzPct val="100000"/>
              <a:buChar char="•"/>
            </a:pPr>
            <a:r>
              <a:rPr lang="en-US" sz="1350" dirty="0">
                <a:solidFill>
                  <a:srgbClr val="23202E"/>
                </a:solidFill>
                <a:latin typeface="Calibri" pitchFamily="34" charset="0"/>
                <a:ea typeface="Calibri" pitchFamily="34" charset="-122"/>
                <a:cs typeface="Calibri" pitchFamily="34" charset="-120"/>
              </a:rPr>
              <a:t>AI generates a React component</a:t>
            </a:r>
            <a:endParaRPr lang="en-US" sz="1350" dirty="0"/>
          </a:p>
          <a:p>
            <a:pPr marL="342900" indent="-342900">
              <a:lnSpc>
                <a:spcPts val="2200"/>
              </a:lnSpc>
              <a:buSzPct val="100000"/>
              <a:buChar char="•"/>
            </a:pPr>
            <a:r>
              <a:rPr lang="en-US" sz="1350" dirty="0">
                <a:solidFill>
                  <a:srgbClr val="23202E"/>
                </a:solidFill>
                <a:latin typeface="Calibri" pitchFamily="34" charset="0"/>
                <a:ea typeface="Calibri" pitchFamily="34" charset="-122"/>
                <a:cs typeface="Calibri" pitchFamily="34" charset="-120"/>
              </a:rPr>
              <a:t>You own and evolve the code</a:t>
            </a:r>
            <a:endParaRPr lang="en-US" sz="1350" dirty="0"/>
          </a:p>
          <a:p>
            <a:pPr marL="342900" indent="-342900">
              <a:lnSpc>
                <a:spcPts val="2200"/>
              </a:lnSpc>
              <a:buSzPct val="100000"/>
              <a:buChar char="•"/>
            </a:pPr>
            <a:r>
              <a:rPr lang="en-US" sz="1350" dirty="0">
                <a:solidFill>
                  <a:srgbClr val="23202E"/>
                </a:solidFill>
                <a:latin typeface="Calibri" pitchFamily="34" charset="0"/>
                <a:ea typeface="Calibri" pitchFamily="34" charset="-122"/>
                <a:cs typeface="Calibri" pitchFamily="34" charset="-120"/>
              </a:rPr>
              <a:t>Web-native with 4D </a:t>
            </a:r>
            <a:r>
              <a:rPr lang="en-US" sz="1350" dirty="0" err="1">
                <a:solidFill>
                  <a:srgbClr val="23202E"/>
                </a:solidFill>
                <a:latin typeface="Calibri" pitchFamily="34" charset="0"/>
                <a:ea typeface="Calibri" pitchFamily="34" charset="-122"/>
                <a:cs typeface="Calibri" pitchFamily="34" charset="-120"/>
              </a:rPr>
              <a:t>Qodly</a:t>
            </a:r>
            <a:r>
              <a:rPr lang="en-US" sz="1350" dirty="0">
                <a:solidFill>
                  <a:srgbClr val="23202E"/>
                </a:solidFill>
                <a:latin typeface="Calibri" pitchFamily="34" charset="0"/>
                <a:ea typeface="Calibri" pitchFamily="34" charset="-122"/>
                <a:cs typeface="Calibri" pitchFamily="34" charset="-120"/>
              </a:rPr>
              <a:t> Pro — included in 4D</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marL="0" indent="0">
              <a:buNone/>
            </a:pPr>
            <a:r>
              <a:rPr lang="en-US" sz="1200" b="1" kern="0" spc="300" dirty="0">
                <a:solidFill>
                  <a:srgbClr val="6E56CF"/>
                </a:solidFill>
                <a:latin typeface="Calibri" pitchFamily="34" charset="0"/>
                <a:ea typeface="Calibri" pitchFamily="34" charset="-122"/>
                <a:cs typeface="Calibri" pitchFamily="34" charset="-120"/>
              </a:rPr>
              <a:t>THE PATTERN</a:t>
            </a:r>
            <a:endParaRPr lang="en-US" sz="1200" dirty="0"/>
          </a:p>
        </p:txBody>
      </p:sp>
      <p:sp>
        <p:nvSpPr>
          <p:cNvPr id="3" name="Text 1"/>
          <p:cNvSpPr/>
          <p:nvPr/>
        </p:nvSpPr>
        <p:spPr>
          <a:xfrm>
            <a:off x="548640" y="658368"/>
            <a:ext cx="8046720" cy="594360"/>
          </a:xfrm>
          <a:prstGeom prst="rect">
            <a:avLst/>
          </a:prstGeom>
          <a:noFill/>
          <a:ln/>
        </p:spPr>
        <p:txBody>
          <a:bodyPr wrap="square" lIns="0" tIns="0" rIns="0" bIns="0" rtlCol="0" anchor="ctr"/>
          <a:lstStyle/>
          <a:p>
            <a:pPr marL="0" indent="0">
              <a:buNone/>
            </a:pPr>
            <a:r>
              <a:rPr lang="en-US" sz="3000" b="1" dirty="0">
                <a:solidFill>
                  <a:srgbClr val="23202E"/>
                </a:solidFill>
                <a:latin typeface="Calibri" pitchFamily="34" charset="0"/>
                <a:ea typeface="Calibri" pitchFamily="34" charset="-122"/>
                <a:cs typeface="Calibri" pitchFamily="34" charset="-120"/>
              </a:rPr>
              <a:t>Every component is the same three-part spec</a:t>
            </a:r>
            <a:endParaRPr lang="en-US" sz="3000" dirty="0"/>
          </a:p>
        </p:txBody>
      </p:sp>
      <p:sp>
        <p:nvSpPr>
          <p:cNvPr id="4" name="Shape 2"/>
          <p:cNvSpPr/>
          <p:nvPr/>
        </p:nvSpPr>
        <p:spPr>
          <a:xfrm>
            <a:off x="342900" y="1645920"/>
            <a:ext cx="2606040" cy="2331720"/>
          </a:xfrm>
          <a:prstGeom prst="roundRect">
            <a:avLst>
              <a:gd name="adj" fmla="val 2745"/>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5" name="Shape 3"/>
          <p:cNvSpPr/>
          <p:nvPr/>
        </p:nvSpPr>
        <p:spPr>
          <a:xfrm>
            <a:off x="617220" y="1920240"/>
            <a:ext cx="566928" cy="566928"/>
          </a:xfrm>
          <a:prstGeom prst="ellipse">
            <a:avLst/>
          </a:prstGeom>
          <a:solidFill>
            <a:srgbClr val="EFEBFA"/>
          </a:solidFill>
          <a:ln/>
        </p:spPr>
        <p:txBody>
          <a:bodyPr/>
          <a:lstStyle/>
          <a:p>
            <a:endParaRPr lang="en-FR"/>
          </a:p>
        </p:txBody>
      </p:sp>
      <p:pic>
        <p:nvPicPr>
          <p:cNvPr id="6" name="Image 0" descr="preencoded.png"/>
          <p:cNvPicPr>
            <a:picLocks noChangeAspect="1"/>
          </p:cNvPicPr>
          <p:nvPr/>
        </p:nvPicPr>
        <p:blipFill>
          <a:blip r:embed="rId3"/>
          <a:stretch>
            <a:fillRect/>
          </a:stretch>
        </p:blipFill>
        <p:spPr>
          <a:xfrm>
            <a:off x="770291" y="2073311"/>
            <a:ext cx="260787" cy="260787"/>
          </a:xfrm>
          <a:prstGeom prst="rect">
            <a:avLst/>
          </a:prstGeom>
        </p:spPr>
      </p:pic>
      <p:sp>
        <p:nvSpPr>
          <p:cNvPr id="7" name="Text 4"/>
          <p:cNvSpPr/>
          <p:nvPr/>
        </p:nvSpPr>
        <p:spPr>
          <a:xfrm>
            <a:off x="617220" y="2606040"/>
            <a:ext cx="2057400" cy="365760"/>
          </a:xfrm>
          <a:prstGeom prst="rect">
            <a:avLst/>
          </a:prstGeom>
          <a:noFill/>
          <a:ln/>
        </p:spPr>
        <p:txBody>
          <a:bodyPr wrap="square" lIns="0" tIns="0" rIns="0" bIns="0" rtlCol="0" anchor="ctr"/>
          <a:lstStyle/>
          <a:p>
            <a:pPr marL="0" indent="0">
              <a:buNone/>
            </a:pPr>
            <a:r>
              <a:rPr lang="en-US" sz="1700" b="1" dirty="0">
                <a:solidFill>
                  <a:srgbClr val="23202E"/>
                </a:solidFill>
                <a:latin typeface="Calibri" pitchFamily="34" charset="0"/>
                <a:ea typeface="Calibri" pitchFamily="34" charset="-122"/>
                <a:cs typeface="Calibri" pitchFamily="34" charset="-120"/>
              </a:rPr>
              <a:t>Props</a:t>
            </a:r>
            <a:endParaRPr lang="en-US" sz="1700" dirty="0"/>
          </a:p>
        </p:txBody>
      </p:sp>
      <p:sp>
        <p:nvSpPr>
          <p:cNvPr id="8" name="Text 5"/>
          <p:cNvSpPr/>
          <p:nvPr/>
        </p:nvSpPr>
        <p:spPr>
          <a:xfrm>
            <a:off x="617220" y="2971800"/>
            <a:ext cx="2057400" cy="914400"/>
          </a:xfrm>
          <a:prstGeom prst="rect">
            <a:avLst/>
          </a:prstGeom>
          <a:noFill/>
          <a:ln/>
        </p:spPr>
        <p:txBody>
          <a:bodyPr wrap="square" lIns="0" tIns="0" rIns="0" bIns="0" rtlCol="0" anchor="ctr"/>
          <a:lstStyle/>
          <a:p>
            <a:pPr marL="0" indent="0">
              <a:lnSpc>
                <a:spcPts val="1600"/>
              </a:lnSpc>
              <a:buNone/>
            </a:pPr>
            <a:r>
              <a:rPr lang="en-US" sz="1200" dirty="0">
                <a:solidFill>
                  <a:srgbClr val="6F6B7D"/>
                </a:solidFill>
                <a:latin typeface="Calibri" pitchFamily="34" charset="0"/>
                <a:ea typeface="Calibri" pitchFamily="34" charset="-122"/>
                <a:cs typeface="Calibri" pitchFamily="34" charset="-120"/>
              </a:rPr>
              <a:t>What flows in: the data your component receives — a string, a number, a collection of entities.</a:t>
            </a:r>
            <a:endParaRPr lang="en-US" sz="1200" dirty="0"/>
          </a:p>
        </p:txBody>
      </p:sp>
      <p:sp>
        <p:nvSpPr>
          <p:cNvPr id="9" name="Shape 6"/>
          <p:cNvSpPr/>
          <p:nvPr/>
        </p:nvSpPr>
        <p:spPr>
          <a:xfrm>
            <a:off x="3268980" y="1645920"/>
            <a:ext cx="2606040" cy="2331720"/>
          </a:xfrm>
          <a:prstGeom prst="roundRect">
            <a:avLst>
              <a:gd name="adj" fmla="val 2745"/>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10" name="Shape 7"/>
          <p:cNvSpPr/>
          <p:nvPr/>
        </p:nvSpPr>
        <p:spPr>
          <a:xfrm>
            <a:off x="3543300" y="1920240"/>
            <a:ext cx="566928" cy="566928"/>
          </a:xfrm>
          <a:prstGeom prst="ellipse">
            <a:avLst/>
          </a:prstGeom>
          <a:solidFill>
            <a:srgbClr val="EFEBFA"/>
          </a:solidFill>
          <a:ln/>
        </p:spPr>
        <p:txBody>
          <a:bodyPr/>
          <a:lstStyle/>
          <a:p>
            <a:endParaRPr lang="en-FR"/>
          </a:p>
        </p:txBody>
      </p:sp>
      <p:pic>
        <p:nvPicPr>
          <p:cNvPr id="11" name="Image 1" descr="preencoded.png"/>
          <p:cNvPicPr>
            <a:picLocks noChangeAspect="1"/>
          </p:cNvPicPr>
          <p:nvPr/>
        </p:nvPicPr>
        <p:blipFill>
          <a:blip r:embed="rId4"/>
          <a:stretch>
            <a:fillRect/>
          </a:stretch>
        </p:blipFill>
        <p:spPr>
          <a:xfrm>
            <a:off x="3696371" y="2073311"/>
            <a:ext cx="260787" cy="260787"/>
          </a:xfrm>
          <a:prstGeom prst="rect">
            <a:avLst/>
          </a:prstGeom>
        </p:spPr>
      </p:pic>
      <p:sp>
        <p:nvSpPr>
          <p:cNvPr id="12" name="Text 8"/>
          <p:cNvSpPr/>
          <p:nvPr/>
        </p:nvSpPr>
        <p:spPr>
          <a:xfrm>
            <a:off x="3543300" y="2606040"/>
            <a:ext cx="2057400" cy="365760"/>
          </a:xfrm>
          <a:prstGeom prst="rect">
            <a:avLst/>
          </a:prstGeom>
          <a:noFill/>
          <a:ln/>
        </p:spPr>
        <p:txBody>
          <a:bodyPr wrap="square" lIns="0" tIns="0" rIns="0" bIns="0" rtlCol="0" anchor="ctr"/>
          <a:lstStyle/>
          <a:p>
            <a:pPr marL="0" indent="0">
              <a:buNone/>
            </a:pPr>
            <a:r>
              <a:rPr lang="en-US" sz="1700" b="1" dirty="0">
                <a:solidFill>
                  <a:srgbClr val="23202E"/>
                </a:solidFill>
                <a:latin typeface="Calibri" pitchFamily="34" charset="0"/>
                <a:ea typeface="Calibri" pitchFamily="34" charset="-122"/>
                <a:cs typeface="Calibri" pitchFamily="34" charset="-120"/>
              </a:rPr>
              <a:t>Events</a:t>
            </a:r>
            <a:endParaRPr lang="en-US" sz="1700" dirty="0"/>
          </a:p>
        </p:txBody>
      </p:sp>
      <p:sp>
        <p:nvSpPr>
          <p:cNvPr id="13" name="Text 9"/>
          <p:cNvSpPr/>
          <p:nvPr/>
        </p:nvSpPr>
        <p:spPr>
          <a:xfrm>
            <a:off x="3543300" y="2971800"/>
            <a:ext cx="2057400" cy="914400"/>
          </a:xfrm>
          <a:prstGeom prst="rect">
            <a:avLst/>
          </a:prstGeom>
          <a:noFill/>
          <a:ln/>
        </p:spPr>
        <p:txBody>
          <a:bodyPr wrap="square" lIns="0" tIns="0" rIns="0" bIns="0" rtlCol="0" anchor="ctr"/>
          <a:lstStyle/>
          <a:p>
            <a:pPr marL="0" indent="0">
              <a:lnSpc>
                <a:spcPts val="1600"/>
              </a:lnSpc>
              <a:buNone/>
            </a:pPr>
            <a:r>
              <a:rPr lang="en-US" sz="1200" dirty="0">
                <a:solidFill>
                  <a:srgbClr val="6F6B7D"/>
                </a:solidFill>
                <a:latin typeface="Calibri" pitchFamily="34" charset="0"/>
                <a:ea typeface="Calibri" pitchFamily="34" charset="-122"/>
                <a:cs typeface="Calibri" pitchFamily="34" charset="-120"/>
              </a:rPr>
              <a:t>What flows out: onChange, onSelect, onMove… the signals your Qodly page and 4D code react to.</a:t>
            </a:r>
            <a:endParaRPr lang="en-US" sz="1200" dirty="0"/>
          </a:p>
        </p:txBody>
      </p:sp>
      <p:sp>
        <p:nvSpPr>
          <p:cNvPr id="14" name="Shape 10"/>
          <p:cNvSpPr/>
          <p:nvPr/>
        </p:nvSpPr>
        <p:spPr>
          <a:xfrm>
            <a:off x="6195060" y="1645920"/>
            <a:ext cx="2606040" cy="2331720"/>
          </a:xfrm>
          <a:prstGeom prst="roundRect">
            <a:avLst>
              <a:gd name="adj" fmla="val 2745"/>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15" name="Shape 11"/>
          <p:cNvSpPr/>
          <p:nvPr/>
        </p:nvSpPr>
        <p:spPr>
          <a:xfrm>
            <a:off x="6469380" y="1920240"/>
            <a:ext cx="566928" cy="566928"/>
          </a:xfrm>
          <a:prstGeom prst="ellipse">
            <a:avLst/>
          </a:prstGeom>
          <a:solidFill>
            <a:srgbClr val="EFEBFA"/>
          </a:solidFill>
          <a:ln/>
        </p:spPr>
        <p:txBody>
          <a:bodyPr/>
          <a:lstStyle/>
          <a:p>
            <a:endParaRPr lang="en-FR"/>
          </a:p>
        </p:txBody>
      </p:sp>
      <p:pic>
        <p:nvPicPr>
          <p:cNvPr id="16" name="Image 2" descr="preencoded.png"/>
          <p:cNvPicPr>
            <a:picLocks noChangeAspect="1"/>
          </p:cNvPicPr>
          <p:nvPr/>
        </p:nvPicPr>
        <p:blipFill>
          <a:blip r:embed="rId5"/>
          <a:stretch>
            <a:fillRect/>
          </a:stretch>
        </p:blipFill>
        <p:spPr>
          <a:xfrm>
            <a:off x="6622451" y="2073311"/>
            <a:ext cx="260787" cy="260787"/>
          </a:xfrm>
          <a:prstGeom prst="rect">
            <a:avLst/>
          </a:prstGeom>
        </p:spPr>
      </p:pic>
      <p:sp>
        <p:nvSpPr>
          <p:cNvPr id="17" name="Text 12"/>
          <p:cNvSpPr/>
          <p:nvPr/>
        </p:nvSpPr>
        <p:spPr>
          <a:xfrm>
            <a:off x="6469380" y="2606040"/>
            <a:ext cx="2057400" cy="365760"/>
          </a:xfrm>
          <a:prstGeom prst="rect">
            <a:avLst/>
          </a:prstGeom>
          <a:noFill/>
          <a:ln/>
        </p:spPr>
        <p:txBody>
          <a:bodyPr wrap="square" lIns="0" tIns="0" rIns="0" bIns="0" rtlCol="0" anchor="ctr"/>
          <a:lstStyle/>
          <a:p>
            <a:pPr marL="0" indent="0">
              <a:buNone/>
            </a:pPr>
            <a:r>
              <a:rPr lang="en-US" sz="1700" b="1" dirty="0">
                <a:solidFill>
                  <a:srgbClr val="23202E"/>
                </a:solidFill>
                <a:latin typeface="Calibri" pitchFamily="34" charset="0"/>
                <a:ea typeface="Calibri" pitchFamily="34" charset="-122"/>
                <a:cs typeface="Calibri" pitchFamily="34" charset="-120"/>
              </a:rPr>
              <a:t>Behavior</a:t>
            </a:r>
            <a:endParaRPr lang="en-US" sz="1700" dirty="0"/>
          </a:p>
        </p:txBody>
      </p:sp>
      <p:sp>
        <p:nvSpPr>
          <p:cNvPr id="18" name="Text 13"/>
          <p:cNvSpPr/>
          <p:nvPr/>
        </p:nvSpPr>
        <p:spPr>
          <a:xfrm>
            <a:off x="6469380" y="2971800"/>
            <a:ext cx="2057400" cy="914400"/>
          </a:xfrm>
          <a:prstGeom prst="rect">
            <a:avLst/>
          </a:prstGeom>
          <a:noFill/>
          <a:ln/>
        </p:spPr>
        <p:txBody>
          <a:bodyPr wrap="square" lIns="0" tIns="0" rIns="0" bIns="0" rtlCol="0" anchor="ctr"/>
          <a:lstStyle/>
          <a:p>
            <a:pPr marL="0" indent="0">
              <a:lnSpc>
                <a:spcPts val="1600"/>
              </a:lnSpc>
              <a:buNone/>
            </a:pPr>
            <a:r>
              <a:rPr lang="en-US" sz="1200" dirty="0">
                <a:solidFill>
                  <a:srgbClr val="6F6B7D"/>
                </a:solidFill>
                <a:latin typeface="Calibri" pitchFamily="34" charset="0"/>
                <a:ea typeface="Calibri" pitchFamily="34" charset="-122"/>
                <a:cs typeface="Calibri" pitchFamily="34" charset="-120"/>
              </a:rPr>
              <a:t>What it does in between: formatting, validation, drag &amp; drop, thresholds, rendering.</a:t>
            </a:r>
            <a:endParaRPr lang="en-US" sz="1200" dirty="0"/>
          </a:p>
        </p:txBody>
      </p:sp>
      <p:sp>
        <p:nvSpPr>
          <p:cNvPr id="19" name="Text 14"/>
          <p:cNvSpPr/>
          <p:nvPr/>
        </p:nvSpPr>
        <p:spPr>
          <a:xfrm>
            <a:off x="548640" y="4297680"/>
            <a:ext cx="8046720" cy="365760"/>
          </a:xfrm>
          <a:prstGeom prst="rect">
            <a:avLst/>
          </a:prstGeom>
          <a:noFill/>
          <a:ln/>
        </p:spPr>
        <p:txBody>
          <a:bodyPr wrap="square" lIns="0" tIns="0" rIns="0" bIns="0" rtlCol="0" anchor="ctr"/>
          <a:lstStyle/>
          <a:p>
            <a:pPr marL="0" indent="0" algn="ctr">
              <a:buNone/>
            </a:pPr>
            <a:r>
              <a:rPr lang="en-US" sz="1700" b="1" dirty="0">
                <a:solidFill>
                  <a:srgbClr val="23202E"/>
                </a:solidFill>
                <a:latin typeface="Calibri" pitchFamily="34" charset="0"/>
                <a:ea typeface="Calibri" pitchFamily="34" charset="-122"/>
                <a:cs typeface="Calibri" pitchFamily="34" charset="-120"/>
              </a:rPr>
              <a:t>AI writes the React.  </a:t>
            </a:r>
            <a:r>
              <a:rPr lang="en-US" sz="1700" b="1" dirty="0">
                <a:solidFill>
                  <a:srgbClr val="6E56CF"/>
                </a:solidFill>
                <a:latin typeface="Calibri" pitchFamily="34" charset="0"/>
                <a:ea typeface="Calibri" pitchFamily="34" charset="-122"/>
                <a:cs typeface="Calibri" pitchFamily="34" charset="-120"/>
              </a:rPr>
              <a:t>4D </a:t>
            </a:r>
            <a:r>
              <a:rPr lang="en-US" sz="1700" b="1" dirty="0" err="1">
                <a:solidFill>
                  <a:srgbClr val="6E56CF"/>
                </a:solidFill>
                <a:latin typeface="Calibri" pitchFamily="34" charset="0"/>
                <a:ea typeface="Calibri" pitchFamily="34" charset="-122"/>
                <a:cs typeface="Calibri" pitchFamily="34" charset="-120"/>
              </a:rPr>
              <a:t>Qodly</a:t>
            </a:r>
            <a:r>
              <a:rPr lang="en-US" sz="1700" b="1" dirty="0">
                <a:solidFill>
                  <a:srgbClr val="6E56CF"/>
                </a:solidFill>
                <a:latin typeface="Calibri" pitchFamily="34" charset="0"/>
                <a:ea typeface="Calibri" pitchFamily="34" charset="-122"/>
                <a:cs typeface="Calibri" pitchFamily="34" charset="-120"/>
              </a:rPr>
              <a:t> Pro — right inside 4D.</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marL="0" indent="0">
              <a:buNone/>
            </a:pPr>
            <a:r>
              <a:rPr lang="en-US" sz="1200" b="1" kern="0" spc="300" dirty="0">
                <a:solidFill>
                  <a:srgbClr val="6E56CF"/>
                </a:solidFill>
                <a:latin typeface="Calibri" pitchFamily="34" charset="0"/>
                <a:ea typeface="Calibri" pitchFamily="34" charset="-122"/>
                <a:cs typeface="Calibri" pitchFamily="34" charset="-120"/>
              </a:rPr>
              <a:t>PLAYGROUND 1</a:t>
            </a:r>
            <a:endParaRPr lang="en-US" sz="1200" dirty="0"/>
          </a:p>
        </p:txBody>
      </p:sp>
      <p:sp>
        <p:nvSpPr>
          <p:cNvPr id="3" name="Text 1"/>
          <p:cNvSpPr/>
          <p:nvPr/>
        </p:nvSpPr>
        <p:spPr>
          <a:xfrm>
            <a:off x="548640" y="658368"/>
            <a:ext cx="8046720" cy="594360"/>
          </a:xfrm>
          <a:prstGeom prst="rect">
            <a:avLst/>
          </a:prstGeom>
          <a:noFill/>
          <a:ln/>
        </p:spPr>
        <p:txBody>
          <a:bodyPr wrap="square" lIns="0" tIns="0" rIns="0" bIns="0" rtlCol="0" anchor="ctr"/>
          <a:lstStyle/>
          <a:p>
            <a:pPr marL="0" indent="0">
              <a:buNone/>
            </a:pPr>
            <a:r>
              <a:rPr lang="en-US" sz="3000" b="1" dirty="0">
                <a:solidFill>
                  <a:srgbClr val="23202E"/>
                </a:solidFill>
                <a:latin typeface="Calibri" pitchFamily="34" charset="0"/>
                <a:ea typeface="Calibri" pitchFamily="34" charset="-122"/>
                <a:cs typeface="Calibri" pitchFamily="34" charset="-120"/>
              </a:rPr>
              <a:t>A classic 4D desktop app: Tasks Manager</a:t>
            </a:r>
            <a:endParaRPr lang="en-US" sz="3000" dirty="0"/>
          </a:p>
        </p:txBody>
      </p:sp>
      <p:sp>
        <p:nvSpPr>
          <p:cNvPr id="4" name="Text 2"/>
          <p:cNvSpPr/>
          <p:nvPr/>
        </p:nvSpPr>
        <p:spPr>
          <a:xfrm>
            <a:off x="548640" y="1783080"/>
            <a:ext cx="3566160" cy="2560320"/>
          </a:xfrm>
          <a:prstGeom prst="rect">
            <a:avLst/>
          </a:prstGeom>
          <a:noFill/>
          <a:ln/>
        </p:spPr>
        <p:txBody>
          <a:bodyPr wrap="square" lIns="0" tIns="0" rIns="0" bIns="0" rtlCol="0" anchor="ctr"/>
          <a:lstStyle/>
          <a:p>
            <a:pPr marL="0" indent="0">
              <a:buNone/>
            </a:pPr>
            <a:r>
              <a:rPr lang="en-US" sz="1600" b="1" dirty="0">
                <a:solidFill>
                  <a:srgbClr val="23202E"/>
                </a:solidFill>
                <a:latin typeface="Calibri" pitchFamily="34" charset="0"/>
                <a:ea typeface="Calibri" pitchFamily="34" charset="-122"/>
                <a:cs typeface="Calibri" pitchFamily="34" charset="-120"/>
              </a:rPr>
              <a:t>Two tables, one story</a:t>
            </a:r>
            <a:endParaRPr lang="en-US" sz="1600" dirty="0"/>
          </a:p>
          <a:p>
            <a:pPr marL="0" indent="0">
              <a:buNone/>
            </a:pPr>
            <a:endParaRPr lang="en-US" sz="1600" dirty="0"/>
          </a:p>
          <a:p>
            <a:pPr marL="0" indent="0">
              <a:lnSpc>
                <a:spcPts val="1900"/>
              </a:lnSpc>
              <a:buNone/>
            </a:pPr>
            <a:r>
              <a:rPr lang="en-US" sz="1350" dirty="0">
                <a:solidFill>
                  <a:srgbClr val="6F6B7D"/>
                </a:solidFill>
                <a:latin typeface="Calibri" pitchFamily="34" charset="0"/>
                <a:ea typeface="Calibri" pitchFamily="34" charset="-122"/>
                <a:cs typeface="Calibri" pitchFamily="34" charset="-120"/>
              </a:rPr>
              <a:t>A task list every 4D developer has built at least once — categories, due dates, priorities, a progress slider and a description field.</a:t>
            </a:r>
            <a:endParaRPr lang="en-US" sz="1600" dirty="0"/>
          </a:p>
          <a:p>
            <a:pPr marL="0" indent="0">
              <a:buNone/>
            </a:pPr>
            <a:endParaRPr lang="en-US" sz="1600" dirty="0"/>
          </a:p>
          <a:p>
            <a:pPr marL="0" indent="0">
              <a:lnSpc>
                <a:spcPts val="1900"/>
              </a:lnSpc>
              <a:buNone/>
            </a:pPr>
            <a:r>
              <a:rPr lang="en-US" sz="1350" dirty="0">
                <a:solidFill>
                  <a:srgbClr val="6F6B7D"/>
                </a:solidFill>
                <a:latin typeface="Calibri" pitchFamily="34" charset="0"/>
                <a:ea typeface="Calibri" pitchFamily="34" charset="-122"/>
                <a:cs typeface="Calibri" pitchFamily="34" charset="-120"/>
              </a:rPr>
              <a:t>Opened in 4D </a:t>
            </a:r>
            <a:r>
              <a:rPr lang="en-US" sz="1350" dirty="0" err="1">
                <a:solidFill>
                  <a:srgbClr val="6F6B7D"/>
                </a:solidFill>
                <a:latin typeface="Calibri" pitchFamily="34" charset="0"/>
                <a:ea typeface="Calibri" pitchFamily="34" charset="-122"/>
                <a:cs typeface="Calibri" pitchFamily="34" charset="-120"/>
              </a:rPr>
              <a:t>Qodly</a:t>
            </a:r>
            <a:r>
              <a:rPr lang="en-US" sz="1350" dirty="0">
                <a:solidFill>
                  <a:srgbClr val="6F6B7D"/>
                </a:solidFill>
                <a:latin typeface="Calibri" pitchFamily="34" charset="0"/>
                <a:ea typeface="Calibri" pitchFamily="34" charset="-122"/>
                <a:cs typeface="Calibri" pitchFamily="34" charset="-120"/>
              </a:rPr>
              <a:t> Studio inside the same 4D project: same structure, same ORDA model, same code — nothing leaves 4D.</a:t>
            </a:r>
            <a:endParaRPr lang="en-US" sz="1600" dirty="0"/>
          </a:p>
        </p:txBody>
      </p:sp>
      <p:sp>
        <p:nvSpPr>
          <p:cNvPr id="5" name="Shape 3"/>
          <p:cNvSpPr/>
          <p:nvPr/>
        </p:nvSpPr>
        <p:spPr>
          <a:xfrm>
            <a:off x="4572000" y="1600200"/>
            <a:ext cx="2103120" cy="2880360"/>
          </a:xfrm>
          <a:prstGeom prst="roundRect">
            <a:avLst>
              <a:gd name="adj" fmla="val 3043"/>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6" name="Shape 4"/>
          <p:cNvSpPr/>
          <p:nvPr/>
        </p:nvSpPr>
        <p:spPr>
          <a:xfrm>
            <a:off x="4572000" y="1600200"/>
            <a:ext cx="2103120" cy="457200"/>
          </a:xfrm>
          <a:prstGeom prst="roundRect">
            <a:avLst>
              <a:gd name="adj" fmla="val 14000"/>
            </a:avLst>
          </a:prstGeom>
          <a:solidFill>
            <a:srgbClr val="191233"/>
          </a:solidFill>
          <a:ln/>
        </p:spPr>
        <p:txBody>
          <a:bodyPr/>
          <a:lstStyle/>
          <a:p>
            <a:endParaRPr lang="en-FR"/>
          </a:p>
        </p:txBody>
      </p:sp>
      <p:sp>
        <p:nvSpPr>
          <p:cNvPr id="7" name="Text 5"/>
          <p:cNvSpPr/>
          <p:nvPr/>
        </p:nvSpPr>
        <p:spPr>
          <a:xfrm>
            <a:off x="4572000" y="1600200"/>
            <a:ext cx="21031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Task</a:t>
            </a:r>
            <a:endParaRPr lang="en-US" sz="1400" dirty="0"/>
          </a:p>
        </p:txBody>
      </p:sp>
      <p:sp>
        <p:nvSpPr>
          <p:cNvPr id="8" name="Text 6"/>
          <p:cNvSpPr/>
          <p:nvPr/>
        </p:nvSpPr>
        <p:spPr>
          <a:xfrm>
            <a:off x="4800600" y="2148840"/>
            <a:ext cx="1645920" cy="2240280"/>
          </a:xfrm>
          <a:prstGeom prst="rect">
            <a:avLst/>
          </a:prstGeom>
          <a:noFill/>
          <a:ln/>
        </p:spPr>
        <p:txBody>
          <a:bodyPr wrap="square" lIns="0" tIns="0" rIns="0" bIns="0" rtlCol="0" anchor="ctr"/>
          <a:lstStyle/>
          <a:p>
            <a:pPr marL="0" indent="0">
              <a:lnSpc>
                <a:spcPts val="1650"/>
              </a:lnSpc>
              <a:buNone/>
            </a:pPr>
            <a:r>
              <a:rPr lang="en-US" sz="1150" b="1" dirty="0">
                <a:solidFill>
                  <a:srgbClr val="23202E"/>
                </a:solidFill>
                <a:latin typeface="Calibri" pitchFamily="34" charset="0"/>
                <a:ea typeface="Calibri" pitchFamily="34" charset="-122"/>
                <a:cs typeface="Calibri" pitchFamily="34" charset="-120"/>
              </a:rPr>
              <a:t>ID</a:t>
            </a:r>
            <a:endParaRPr lang="en-US" sz="1150" dirty="0"/>
          </a:p>
          <a:p>
            <a:pPr marL="0" indent="0">
              <a:lnSpc>
                <a:spcPts val="1650"/>
              </a:lnSpc>
              <a:buNone/>
            </a:pPr>
            <a:r>
              <a:rPr lang="en-US" sz="1150" dirty="0">
                <a:solidFill>
                  <a:srgbClr val="6F6B7D"/>
                </a:solidFill>
                <a:latin typeface="Calibri" pitchFamily="34" charset="0"/>
                <a:ea typeface="Calibri" pitchFamily="34" charset="-122"/>
                <a:cs typeface="Calibri" pitchFamily="34" charset="-120"/>
              </a:rPr>
              <a:t>Title</a:t>
            </a:r>
            <a:endParaRPr lang="en-US" sz="1150" dirty="0"/>
          </a:p>
          <a:p>
            <a:pPr marL="0" indent="0">
              <a:lnSpc>
                <a:spcPts val="1650"/>
              </a:lnSpc>
              <a:buNone/>
            </a:pPr>
            <a:r>
              <a:rPr lang="en-US" sz="1150" dirty="0">
                <a:solidFill>
                  <a:srgbClr val="6F6B7D"/>
                </a:solidFill>
                <a:latin typeface="Calibri" pitchFamily="34" charset="0"/>
                <a:ea typeface="Calibri" pitchFamily="34" charset="-122"/>
                <a:cs typeface="Calibri" pitchFamily="34" charset="-120"/>
              </a:rPr>
              <a:t>StartDate</a:t>
            </a:r>
            <a:endParaRPr lang="en-US" sz="1150" dirty="0"/>
          </a:p>
          <a:p>
            <a:pPr marL="0" indent="0">
              <a:lnSpc>
                <a:spcPts val="1650"/>
              </a:lnSpc>
              <a:buNone/>
            </a:pPr>
            <a:r>
              <a:rPr lang="en-US" sz="1150" dirty="0">
                <a:solidFill>
                  <a:srgbClr val="6F6B7D"/>
                </a:solidFill>
                <a:latin typeface="Calibri" pitchFamily="34" charset="0"/>
                <a:ea typeface="Calibri" pitchFamily="34" charset="-122"/>
                <a:cs typeface="Calibri" pitchFamily="34" charset="-120"/>
              </a:rPr>
              <a:t>DueDate</a:t>
            </a:r>
            <a:endParaRPr lang="en-US" sz="1150" dirty="0"/>
          </a:p>
          <a:p>
            <a:pPr marL="0" indent="0">
              <a:lnSpc>
                <a:spcPts val="1650"/>
              </a:lnSpc>
              <a:buNone/>
            </a:pPr>
            <a:r>
              <a:rPr lang="en-US" sz="1150" dirty="0">
                <a:solidFill>
                  <a:srgbClr val="6F6B7D"/>
                </a:solidFill>
                <a:latin typeface="Calibri" pitchFamily="34" charset="0"/>
                <a:ea typeface="Calibri" pitchFamily="34" charset="-122"/>
                <a:cs typeface="Calibri" pitchFamily="34" charset="-120"/>
              </a:rPr>
              <a:t>Status</a:t>
            </a:r>
            <a:endParaRPr lang="en-US" sz="1150" dirty="0"/>
          </a:p>
          <a:p>
            <a:pPr marL="0" indent="0">
              <a:lnSpc>
                <a:spcPts val="1650"/>
              </a:lnSpc>
              <a:buNone/>
            </a:pPr>
            <a:r>
              <a:rPr lang="en-US" sz="1150" dirty="0">
                <a:solidFill>
                  <a:srgbClr val="6F6B7D"/>
                </a:solidFill>
                <a:latin typeface="Calibri" pitchFamily="34" charset="0"/>
                <a:ea typeface="Calibri" pitchFamily="34" charset="-122"/>
                <a:cs typeface="Calibri" pitchFamily="34" charset="-120"/>
              </a:rPr>
              <a:t>Priority</a:t>
            </a:r>
            <a:endParaRPr lang="en-US" sz="1150" dirty="0"/>
          </a:p>
          <a:p>
            <a:pPr marL="0" indent="0">
              <a:lnSpc>
                <a:spcPts val="1650"/>
              </a:lnSpc>
              <a:buNone/>
            </a:pPr>
            <a:r>
              <a:rPr lang="en-US" sz="1150" b="1" dirty="0">
                <a:solidFill>
                  <a:srgbClr val="6E56CF"/>
                </a:solidFill>
                <a:latin typeface="Calibri" pitchFamily="34" charset="0"/>
                <a:ea typeface="Calibri" pitchFamily="34" charset="-122"/>
                <a:cs typeface="Calibri" pitchFamily="34" charset="-120"/>
              </a:rPr>
              <a:t>CategoryID</a:t>
            </a:r>
            <a:endParaRPr lang="en-US" sz="1150" dirty="0"/>
          </a:p>
          <a:p>
            <a:pPr marL="0" indent="0">
              <a:lnSpc>
                <a:spcPts val="1650"/>
              </a:lnSpc>
              <a:buNone/>
            </a:pPr>
            <a:r>
              <a:rPr lang="en-US" sz="1150" dirty="0">
                <a:solidFill>
                  <a:srgbClr val="6F6B7D"/>
                </a:solidFill>
                <a:latin typeface="Calibri" pitchFamily="34" charset="0"/>
                <a:ea typeface="Calibri" pitchFamily="34" charset="-122"/>
                <a:cs typeface="Calibri" pitchFamily="34" charset="-120"/>
              </a:rPr>
              <a:t>Description</a:t>
            </a:r>
            <a:endParaRPr lang="en-US" sz="1150" dirty="0"/>
          </a:p>
          <a:p>
            <a:pPr marL="0" indent="0">
              <a:lnSpc>
                <a:spcPts val="1650"/>
              </a:lnSpc>
              <a:buNone/>
            </a:pPr>
            <a:r>
              <a:rPr lang="en-US" sz="1150" dirty="0">
                <a:solidFill>
                  <a:srgbClr val="6F6B7D"/>
                </a:solidFill>
                <a:latin typeface="Calibri" pitchFamily="34" charset="0"/>
                <a:ea typeface="Calibri" pitchFamily="34" charset="-122"/>
                <a:cs typeface="Calibri" pitchFamily="34" charset="-120"/>
              </a:rPr>
              <a:t>Percent</a:t>
            </a:r>
            <a:endParaRPr lang="en-US" sz="1150" dirty="0"/>
          </a:p>
        </p:txBody>
      </p:sp>
      <p:sp>
        <p:nvSpPr>
          <p:cNvPr id="9" name="Shape 7"/>
          <p:cNvSpPr/>
          <p:nvPr/>
        </p:nvSpPr>
        <p:spPr>
          <a:xfrm>
            <a:off x="7315200" y="2148840"/>
            <a:ext cx="1325880" cy="1234440"/>
          </a:xfrm>
          <a:prstGeom prst="roundRect">
            <a:avLst>
              <a:gd name="adj" fmla="val 5185"/>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10" name="Shape 8"/>
          <p:cNvSpPr/>
          <p:nvPr/>
        </p:nvSpPr>
        <p:spPr>
          <a:xfrm>
            <a:off x="7315200" y="2148840"/>
            <a:ext cx="1325880" cy="411480"/>
          </a:xfrm>
          <a:prstGeom prst="roundRect">
            <a:avLst>
              <a:gd name="adj" fmla="val 15556"/>
            </a:avLst>
          </a:prstGeom>
          <a:solidFill>
            <a:srgbClr val="6E56CF"/>
          </a:solidFill>
          <a:ln/>
        </p:spPr>
        <p:txBody>
          <a:bodyPr/>
          <a:lstStyle/>
          <a:p>
            <a:endParaRPr lang="en-FR"/>
          </a:p>
        </p:txBody>
      </p:sp>
      <p:sp>
        <p:nvSpPr>
          <p:cNvPr id="11" name="Text 9"/>
          <p:cNvSpPr/>
          <p:nvPr/>
        </p:nvSpPr>
        <p:spPr>
          <a:xfrm>
            <a:off x="7315200" y="2148840"/>
            <a:ext cx="13258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Category</a:t>
            </a:r>
            <a:endParaRPr lang="en-US" sz="1200" dirty="0"/>
          </a:p>
        </p:txBody>
      </p:sp>
      <p:sp>
        <p:nvSpPr>
          <p:cNvPr id="12" name="Text 10"/>
          <p:cNvSpPr/>
          <p:nvPr/>
        </p:nvSpPr>
        <p:spPr>
          <a:xfrm>
            <a:off x="7498080" y="2651760"/>
            <a:ext cx="960120" cy="640080"/>
          </a:xfrm>
          <a:prstGeom prst="rect">
            <a:avLst/>
          </a:prstGeom>
          <a:noFill/>
          <a:ln/>
        </p:spPr>
        <p:txBody>
          <a:bodyPr wrap="square" lIns="0" tIns="0" rIns="0" bIns="0" rtlCol="0" anchor="ctr"/>
          <a:lstStyle/>
          <a:p>
            <a:pPr marL="0" indent="0">
              <a:lnSpc>
                <a:spcPts val="1600"/>
              </a:lnSpc>
              <a:buNone/>
            </a:pPr>
            <a:r>
              <a:rPr lang="en-US" sz="1150" b="1" dirty="0">
                <a:solidFill>
                  <a:srgbClr val="23202E"/>
                </a:solidFill>
                <a:latin typeface="Calibri" pitchFamily="34" charset="0"/>
                <a:ea typeface="Calibri" pitchFamily="34" charset="-122"/>
                <a:cs typeface="Calibri" pitchFamily="34" charset="-120"/>
              </a:rPr>
              <a:t>ID</a:t>
            </a:r>
            <a:endParaRPr lang="en-US" sz="1150" dirty="0"/>
          </a:p>
          <a:p>
            <a:pPr marL="0" indent="0">
              <a:lnSpc>
                <a:spcPts val="1600"/>
              </a:lnSpc>
              <a:buNone/>
            </a:pPr>
            <a:r>
              <a:rPr lang="en-US" sz="1150" dirty="0">
                <a:solidFill>
                  <a:srgbClr val="6F6B7D"/>
                </a:solidFill>
                <a:latin typeface="Calibri" pitchFamily="34" charset="0"/>
                <a:ea typeface="Calibri" pitchFamily="34" charset="-122"/>
                <a:cs typeface="Calibri" pitchFamily="34" charset="-120"/>
              </a:rPr>
              <a:t>Name</a:t>
            </a:r>
            <a:endParaRPr lang="en-US" sz="1150" dirty="0"/>
          </a:p>
        </p:txBody>
      </p:sp>
      <p:sp>
        <p:nvSpPr>
          <p:cNvPr id="13" name="Shape 11"/>
          <p:cNvSpPr/>
          <p:nvPr/>
        </p:nvSpPr>
        <p:spPr>
          <a:xfrm>
            <a:off x="6675120" y="2743200"/>
            <a:ext cx="640080" cy="0"/>
          </a:xfrm>
          <a:prstGeom prst="line">
            <a:avLst/>
          </a:prstGeom>
          <a:noFill/>
          <a:ln w="22225">
            <a:solidFill>
              <a:srgbClr val="6E56CF"/>
            </a:solidFill>
            <a:prstDash val="solid"/>
          </a:ln>
        </p:spPr>
        <p:txBody>
          <a:bodyPr/>
          <a:lstStyle/>
          <a:p>
            <a:endParaRPr lang="en-FR"/>
          </a:p>
        </p:txBody>
      </p:sp>
      <p:sp>
        <p:nvSpPr>
          <p:cNvPr id="14" name="Text 12"/>
          <p:cNvSpPr/>
          <p:nvPr/>
        </p:nvSpPr>
        <p:spPr>
          <a:xfrm>
            <a:off x="6720840" y="2423160"/>
            <a:ext cx="548640" cy="274320"/>
          </a:xfrm>
          <a:prstGeom prst="rect">
            <a:avLst/>
          </a:prstGeom>
          <a:noFill/>
          <a:ln/>
        </p:spPr>
        <p:txBody>
          <a:bodyPr wrap="square" lIns="0" tIns="0" rIns="0" bIns="0" rtlCol="0" anchor="ctr"/>
          <a:lstStyle/>
          <a:p>
            <a:pPr marL="0" indent="0" algn="ctr">
              <a:buNone/>
            </a:pPr>
            <a:r>
              <a:rPr lang="en-US" sz="1050" dirty="0">
                <a:solidFill>
                  <a:srgbClr val="6E56CF"/>
                </a:solidFill>
                <a:latin typeface="Calibri" pitchFamily="34" charset="0"/>
                <a:ea typeface="Calibri" pitchFamily="34" charset="-122"/>
                <a:cs typeface="Calibri" pitchFamily="34" charset="-120"/>
              </a:rPr>
              <a:t>N : 1</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marL="0" indent="0">
              <a:buNone/>
            </a:pPr>
            <a:r>
              <a:rPr lang="en-US" sz="1200" b="1" kern="0" spc="300" dirty="0">
                <a:solidFill>
                  <a:srgbClr val="6E56CF"/>
                </a:solidFill>
                <a:latin typeface="Calibri" pitchFamily="34" charset="0"/>
                <a:ea typeface="Calibri" pitchFamily="34" charset="-122"/>
                <a:cs typeface="Calibri" pitchFamily="34" charset="-120"/>
              </a:rPr>
              <a:t>LIVE DEMO 1 · TASKS MANAGER</a:t>
            </a:r>
            <a:endParaRPr lang="en-US" sz="1200" dirty="0"/>
          </a:p>
        </p:txBody>
      </p:sp>
      <p:sp>
        <p:nvSpPr>
          <p:cNvPr id="3" name="Text 1"/>
          <p:cNvSpPr/>
          <p:nvPr/>
        </p:nvSpPr>
        <p:spPr>
          <a:xfrm>
            <a:off x="548640" y="658368"/>
            <a:ext cx="8046720" cy="594360"/>
          </a:xfrm>
          <a:prstGeom prst="rect">
            <a:avLst/>
          </a:prstGeom>
          <a:noFill/>
          <a:ln/>
        </p:spPr>
        <p:txBody>
          <a:bodyPr wrap="square" lIns="0" tIns="0" rIns="0" bIns="0" rtlCol="0" anchor="ctr"/>
          <a:lstStyle/>
          <a:p>
            <a:pPr marL="0" indent="0">
              <a:buNone/>
            </a:pPr>
            <a:r>
              <a:rPr lang="en-US" sz="3000" b="1" dirty="0">
                <a:solidFill>
                  <a:srgbClr val="23202E"/>
                </a:solidFill>
                <a:latin typeface="Calibri" pitchFamily="34" charset="0"/>
                <a:ea typeface="Calibri" pitchFamily="34" charset="-122"/>
                <a:cs typeface="Calibri" pitchFamily="34" charset="-120"/>
              </a:rPr>
              <a:t>Rich Text Editor</a:t>
            </a:r>
            <a:endParaRPr lang="en-US" sz="3000" dirty="0"/>
          </a:p>
        </p:txBody>
      </p:sp>
      <p:sp>
        <p:nvSpPr>
          <p:cNvPr id="4" name="Shape 2"/>
          <p:cNvSpPr/>
          <p:nvPr/>
        </p:nvSpPr>
        <p:spPr>
          <a:xfrm>
            <a:off x="7909560" y="457200"/>
            <a:ext cx="685800" cy="685800"/>
          </a:xfrm>
          <a:prstGeom prst="ellipse">
            <a:avLst/>
          </a:prstGeom>
          <a:solidFill>
            <a:srgbClr val="EFEBFA"/>
          </a:solidFill>
          <a:ln/>
        </p:spPr>
        <p:txBody>
          <a:bodyPr/>
          <a:lstStyle/>
          <a:p>
            <a:endParaRPr lang="en-FR"/>
          </a:p>
        </p:txBody>
      </p:sp>
      <p:pic>
        <p:nvPicPr>
          <p:cNvPr id="5" name="Image 0" descr="preencoded.png"/>
          <p:cNvPicPr>
            <a:picLocks noChangeAspect="1"/>
          </p:cNvPicPr>
          <p:nvPr/>
        </p:nvPicPr>
        <p:blipFill>
          <a:blip r:embed="rId3"/>
          <a:stretch>
            <a:fillRect/>
          </a:stretch>
        </p:blipFill>
        <p:spPr>
          <a:xfrm>
            <a:off x="8094726" y="642366"/>
            <a:ext cx="315468" cy="315468"/>
          </a:xfrm>
          <a:prstGeom prst="rect">
            <a:avLst/>
          </a:prstGeom>
        </p:spPr>
      </p:pic>
      <p:sp>
        <p:nvSpPr>
          <p:cNvPr id="6" name="Text 3"/>
          <p:cNvSpPr/>
          <p:nvPr/>
        </p:nvSpPr>
        <p:spPr>
          <a:xfrm>
            <a:off x="548640" y="1417320"/>
            <a:ext cx="8046720" cy="320040"/>
          </a:xfrm>
          <a:prstGeom prst="rect">
            <a:avLst/>
          </a:prstGeom>
          <a:noFill/>
          <a:ln/>
        </p:spPr>
        <p:txBody>
          <a:bodyPr wrap="square" lIns="0" tIns="0" rIns="0" bIns="0" rtlCol="0" anchor="ctr"/>
          <a:lstStyle/>
          <a:p>
            <a:pPr marL="0" indent="0">
              <a:buNone/>
            </a:pPr>
            <a:r>
              <a:rPr lang="en-US" sz="1400" i="1" dirty="0">
                <a:solidFill>
                  <a:srgbClr val="6F6B7D"/>
                </a:solidFill>
                <a:latin typeface="Calibri" pitchFamily="34" charset="0"/>
                <a:ea typeface="Calibri" pitchFamily="34" charset="-122"/>
                <a:cs typeface="Calibri" pitchFamily="34" charset="-120"/>
              </a:rPr>
              <a:t>Upgrade Task.Description from plain text to formatted content</a:t>
            </a:r>
            <a:endParaRPr lang="en-US" sz="1400" dirty="0"/>
          </a:p>
        </p:txBody>
      </p:sp>
      <p:sp>
        <p:nvSpPr>
          <p:cNvPr id="7" name="Shape 4"/>
          <p:cNvSpPr/>
          <p:nvPr/>
        </p:nvSpPr>
        <p:spPr>
          <a:xfrm>
            <a:off x="548640" y="1965960"/>
            <a:ext cx="8046720" cy="749808"/>
          </a:xfrm>
          <a:prstGeom prst="roundRect">
            <a:avLst>
              <a:gd name="adj" fmla="val 8537"/>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8" name="Text 5"/>
          <p:cNvSpPr/>
          <p:nvPr/>
        </p:nvSpPr>
        <p:spPr>
          <a:xfrm>
            <a:off x="868680" y="1965960"/>
            <a:ext cx="1463040" cy="749808"/>
          </a:xfrm>
          <a:prstGeom prst="rect">
            <a:avLst/>
          </a:prstGeom>
          <a:noFill/>
          <a:ln/>
        </p:spPr>
        <p:txBody>
          <a:bodyPr wrap="square" lIns="0" tIns="0" rIns="0" bIns="0" rtlCol="0" anchor="ctr"/>
          <a:lstStyle/>
          <a:p>
            <a:pPr marL="0" indent="0">
              <a:buNone/>
            </a:pPr>
            <a:r>
              <a:rPr lang="en-US" sz="1200" b="1" kern="0" spc="200" dirty="0">
                <a:solidFill>
                  <a:srgbClr val="6E56CF"/>
                </a:solidFill>
                <a:latin typeface="Calibri" pitchFamily="34" charset="0"/>
                <a:ea typeface="Calibri" pitchFamily="34" charset="-122"/>
                <a:cs typeface="Calibri" pitchFamily="34" charset="-120"/>
              </a:rPr>
              <a:t>PROPS</a:t>
            </a:r>
            <a:endParaRPr lang="en-US" sz="1200" dirty="0"/>
          </a:p>
        </p:txBody>
      </p:sp>
      <p:sp>
        <p:nvSpPr>
          <p:cNvPr id="9" name="Text 6"/>
          <p:cNvSpPr/>
          <p:nvPr/>
        </p:nvSpPr>
        <p:spPr>
          <a:xfrm>
            <a:off x="2468880" y="1965960"/>
            <a:ext cx="5760720" cy="749808"/>
          </a:xfrm>
          <a:prstGeom prst="rect">
            <a:avLst/>
          </a:prstGeom>
          <a:noFill/>
          <a:ln/>
        </p:spPr>
        <p:txBody>
          <a:bodyPr wrap="square" lIns="0" tIns="0" rIns="0" bIns="0" rtlCol="0" anchor="ctr"/>
          <a:lstStyle/>
          <a:p>
            <a:pPr marL="0" indent="0">
              <a:lnSpc>
                <a:spcPts val="1700"/>
              </a:lnSpc>
              <a:buNone/>
            </a:pPr>
            <a:r>
              <a:rPr lang="en-US" sz="1300" dirty="0">
                <a:solidFill>
                  <a:srgbClr val="23202E"/>
                </a:solidFill>
                <a:latin typeface="Calibri" pitchFamily="34" charset="0"/>
                <a:ea typeface="Calibri" pitchFamily="34" charset="-122"/>
                <a:cs typeface="Calibri" pitchFamily="34" charset="-120"/>
              </a:rPr>
              <a:t>content : string (HTML) — bound to Task.Description</a:t>
            </a:r>
            <a:endParaRPr lang="en-US" sz="1300" dirty="0"/>
          </a:p>
        </p:txBody>
      </p:sp>
      <p:sp>
        <p:nvSpPr>
          <p:cNvPr id="10" name="Shape 7"/>
          <p:cNvSpPr/>
          <p:nvPr/>
        </p:nvSpPr>
        <p:spPr>
          <a:xfrm>
            <a:off x="548640" y="2916936"/>
            <a:ext cx="8046720" cy="749808"/>
          </a:xfrm>
          <a:prstGeom prst="roundRect">
            <a:avLst>
              <a:gd name="adj" fmla="val 8537"/>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11" name="Text 8"/>
          <p:cNvSpPr/>
          <p:nvPr/>
        </p:nvSpPr>
        <p:spPr>
          <a:xfrm>
            <a:off x="868680" y="2916936"/>
            <a:ext cx="1463040" cy="749808"/>
          </a:xfrm>
          <a:prstGeom prst="rect">
            <a:avLst/>
          </a:prstGeom>
          <a:noFill/>
          <a:ln/>
        </p:spPr>
        <p:txBody>
          <a:bodyPr wrap="square" lIns="0" tIns="0" rIns="0" bIns="0" rtlCol="0" anchor="ctr"/>
          <a:lstStyle/>
          <a:p>
            <a:pPr marL="0" indent="0">
              <a:buNone/>
            </a:pPr>
            <a:r>
              <a:rPr lang="en-US" sz="1200" b="1" kern="0" spc="200" dirty="0">
                <a:solidFill>
                  <a:srgbClr val="6E56CF"/>
                </a:solidFill>
                <a:latin typeface="Calibri" pitchFamily="34" charset="0"/>
                <a:ea typeface="Calibri" pitchFamily="34" charset="-122"/>
                <a:cs typeface="Calibri" pitchFamily="34" charset="-120"/>
              </a:rPr>
              <a:t>EVENTS</a:t>
            </a:r>
            <a:endParaRPr lang="en-US" sz="1200" dirty="0"/>
          </a:p>
        </p:txBody>
      </p:sp>
      <p:sp>
        <p:nvSpPr>
          <p:cNvPr id="12" name="Text 9"/>
          <p:cNvSpPr/>
          <p:nvPr/>
        </p:nvSpPr>
        <p:spPr>
          <a:xfrm>
            <a:off x="2468880" y="2916936"/>
            <a:ext cx="5760720" cy="749808"/>
          </a:xfrm>
          <a:prstGeom prst="rect">
            <a:avLst/>
          </a:prstGeom>
          <a:noFill/>
          <a:ln/>
        </p:spPr>
        <p:txBody>
          <a:bodyPr wrap="square" lIns="0" tIns="0" rIns="0" bIns="0" rtlCol="0" anchor="ctr"/>
          <a:lstStyle/>
          <a:p>
            <a:pPr marL="0" indent="0">
              <a:lnSpc>
                <a:spcPts val="1700"/>
              </a:lnSpc>
              <a:buNone/>
            </a:pPr>
            <a:r>
              <a:rPr lang="en-US" sz="1300" dirty="0">
                <a:solidFill>
                  <a:srgbClr val="23202E"/>
                </a:solidFill>
                <a:latin typeface="Calibri" pitchFamily="34" charset="0"/>
                <a:ea typeface="Calibri" pitchFamily="34" charset="-122"/>
                <a:cs typeface="Calibri" pitchFamily="34" charset="-120"/>
              </a:rPr>
              <a:t>onChange(newContent) — saved through ORDA on the Qodly page</a:t>
            </a:r>
            <a:endParaRPr lang="en-US" sz="1300" dirty="0"/>
          </a:p>
        </p:txBody>
      </p:sp>
      <p:sp>
        <p:nvSpPr>
          <p:cNvPr id="13" name="Shape 10"/>
          <p:cNvSpPr/>
          <p:nvPr/>
        </p:nvSpPr>
        <p:spPr>
          <a:xfrm>
            <a:off x="548640" y="3867912"/>
            <a:ext cx="8046720" cy="749808"/>
          </a:xfrm>
          <a:prstGeom prst="roundRect">
            <a:avLst>
              <a:gd name="adj" fmla="val 8537"/>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14" name="Text 11"/>
          <p:cNvSpPr/>
          <p:nvPr/>
        </p:nvSpPr>
        <p:spPr>
          <a:xfrm>
            <a:off x="868680" y="3867912"/>
            <a:ext cx="1463040" cy="749808"/>
          </a:xfrm>
          <a:prstGeom prst="rect">
            <a:avLst/>
          </a:prstGeom>
          <a:noFill/>
          <a:ln/>
        </p:spPr>
        <p:txBody>
          <a:bodyPr wrap="square" lIns="0" tIns="0" rIns="0" bIns="0" rtlCol="0" anchor="ctr"/>
          <a:lstStyle/>
          <a:p>
            <a:pPr marL="0" indent="0">
              <a:buNone/>
            </a:pPr>
            <a:r>
              <a:rPr lang="en-US" sz="1200" b="1" kern="0" spc="200" dirty="0">
                <a:solidFill>
                  <a:srgbClr val="6E56CF"/>
                </a:solidFill>
                <a:latin typeface="Calibri" pitchFamily="34" charset="0"/>
                <a:ea typeface="Calibri" pitchFamily="34" charset="-122"/>
                <a:cs typeface="Calibri" pitchFamily="34" charset="-120"/>
              </a:rPr>
              <a:t>BEHAVIOR</a:t>
            </a:r>
            <a:endParaRPr lang="en-US" sz="1200" dirty="0"/>
          </a:p>
        </p:txBody>
      </p:sp>
      <p:sp>
        <p:nvSpPr>
          <p:cNvPr id="15" name="Text 12"/>
          <p:cNvSpPr/>
          <p:nvPr/>
        </p:nvSpPr>
        <p:spPr>
          <a:xfrm>
            <a:off x="2468880" y="3867912"/>
            <a:ext cx="5760720" cy="749808"/>
          </a:xfrm>
          <a:prstGeom prst="rect">
            <a:avLst/>
          </a:prstGeom>
          <a:noFill/>
          <a:ln/>
        </p:spPr>
        <p:txBody>
          <a:bodyPr wrap="square" lIns="0" tIns="0" rIns="0" bIns="0" rtlCol="0" anchor="ctr"/>
          <a:lstStyle/>
          <a:p>
            <a:pPr marL="0" indent="0">
              <a:lnSpc>
                <a:spcPts val="1700"/>
              </a:lnSpc>
              <a:buNone/>
            </a:pPr>
            <a:r>
              <a:rPr lang="en-US" sz="1300" dirty="0">
                <a:solidFill>
                  <a:srgbClr val="23202E"/>
                </a:solidFill>
                <a:latin typeface="Calibri" pitchFamily="34" charset="0"/>
                <a:ea typeface="Calibri" pitchFamily="34" charset="-122"/>
                <a:cs typeface="Calibri" pitchFamily="34" charset="-120"/>
              </a:rPr>
              <a:t>Toolbar with bold, italic, lists and links; clean HTML output; read-only mode</a:t>
            </a:r>
            <a:endParaRPr lang="en-US" sz="1300" dirty="0"/>
          </a:p>
        </p:txBody>
      </p:sp>
      <p:sp>
        <p:nvSpPr>
          <p:cNvPr id="16" name="Text 13"/>
          <p:cNvSpPr/>
          <p:nvPr/>
        </p:nvSpPr>
        <p:spPr>
          <a:xfrm>
            <a:off x="548640" y="4754880"/>
            <a:ext cx="8046720" cy="274320"/>
          </a:xfrm>
          <a:prstGeom prst="rect">
            <a:avLst/>
          </a:prstGeom>
          <a:noFill/>
          <a:ln/>
        </p:spPr>
        <p:txBody>
          <a:bodyPr wrap="square" lIns="0" tIns="0" rIns="0" bIns="0" rtlCol="0" anchor="ctr"/>
          <a:lstStyle/>
          <a:p>
            <a:pPr marL="0" indent="0" algn="ctr">
              <a:buNone/>
            </a:pPr>
            <a:r>
              <a:rPr lang="en-US" sz="1200" dirty="0">
                <a:solidFill>
                  <a:srgbClr val="6F6B7D"/>
                </a:solidFill>
                <a:latin typeface="Calibri" pitchFamily="34" charset="0"/>
                <a:ea typeface="Calibri" pitchFamily="34" charset="-122"/>
                <a:cs typeface="Calibri" pitchFamily="34" charset="-120"/>
              </a:rPr>
              <a:t>One prompt. One component. Bound to ORDA in minutes.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967DAA0-8F0E-80BD-844B-D045880F7DE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A6F3FB7-4D3A-EF26-2010-9E16E9026652}"/>
              </a:ext>
            </a:extLst>
          </p:cNvPr>
          <p:cNvSpPr/>
          <p:nvPr/>
        </p:nvSpPr>
        <p:spPr>
          <a:xfrm>
            <a:off x="548640" y="384048"/>
            <a:ext cx="8046720" cy="274320"/>
          </a:xfrm>
          <a:prstGeom prst="rect">
            <a:avLst/>
          </a:prstGeom>
          <a:noFill/>
          <a:ln/>
        </p:spPr>
        <p:txBody>
          <a:bodyPr wrap="square" lIns="0" tIns="0" rIns="0" bIns="0" rtlCol="0" anchor="ctr"/>
          <a:lstStyle/>
          <a:p>
            <a:pPr marL="0" indent="0">
              <a:buNone/>
            </a:pPr>
            <a:r>
              <a:rPr lang="en-US" sz="1200" b="1" kern="0" spc="300" dirty="0">
                <a:solidFill>
                  <a:srgbClr val="6E56CF"/>
                </a:solidFill>
                <a:latin typeface="Calibri" pitchFamily="34" charset="0"/>
                <a:ea typeface="Calibri" pitchFamily="34" charset="-122"/>
                <a:cs typeface="Calibri" pitchFamily="34" charset="-120"/>
              </a:rPr>
              <a:t>LIVE DEMO 1 · TASKS MANAGER</a:t>
            </a:r>
            <a:endParaRPr lang="en-US" sz="1200" dirty="0"/>
          </a:p>
        </p:txBody>
      </p:sp>
      <p:sp>
        <p:nvSpPr>
          <p:cNvPr id="3" name="Text 1">
            <a:extLst>
              <a:ext uri="{FF2B5EF4-FFF2-40B4-BE49-F238E27FC236}">
                <a16:creationId xmlns:a16="http://schemas.microsoft.com/office/drawing/2014/main" id="{054B3FEC-CB49-A7A1-F9B8-C02233371444}"/>
              </a:ext>
            </a:extLst>
          </p:cNvPr>
          <p:cNvSpPr/>
          <p:nvPr/>
        </p:nvSpPr>
        <p:spPr>
          <a:xfrm>
            <a:off x="548640" y="658368"/>
            <a:ext cx="8046720" cy="594360"/>
          </a:xfrm>
          <a:prstGeom prst="rect">
            <a:avLst/>
          </a:prstGeom>
          <a:noFill/>
          <a:ln/>
        </p:spPr>
        <p:txBody>
          <a:bodyPr wrap="square" lIns="0" tIns="0" rIns="0" bIns="0" rtlCol="0" anchor="ctr"/>
          <a:lstStyle/>
          <a:p>
            <a:pPr marL="0" indent="0">
              <a:buNone/>
            </a:pPr>
            <a:r>
              <a:rPr lang="en-US" sz="3000" b="1" dirty="0">
                <a:solidFill>
                  <a:srgbClr val="23202E"/>
                </a:solidFill>
                <a:latin typeface="Calibri" pitchFamily="34" charset="0"/>
                <a:ea typeface="Calibri" pitchFamily="34" charset="-122"/>
                <a:cs typeface="Calibri" pitchFamily="34" charset="-120"/>
              </a:rPr>
              <a:t>Rich Text Editor</a:t>
            </a:r>
            <a:endParaRPr lang="en-US" sz="3000" dirty="0"/>
          </a:p>
        </p:txBody>
      </p:sp>
      <p:sp>
        <p:nvSpPr>
          <p:cNvPr id="4" name="Shape 2">
            <a:extLst>
              <a:ext uri="{FF2B5EF4-FFF2-40B4-BE49-F238E27FC236}">
                <a16:creationId xmlns:a16="http://schemas.microsoft.com/office/drawing/2014/main" id="{2C281F87-B081-BC13-8172-5D5B4A203468}"/>
              </a:ext>
            </a:extLst>
          </p:cNvPr>
          <p:cNvSpPr/>
          <p:nvPr/>
        </p:nvSpPr>
        <p:spPr>
          <a:xfrm>
            <a:off x="7909560" y="457200"/>
            <a:ext cx="685800" cy="685800"/>
          </a:xfrm>
          <a:prstGeom prst="ellipse">
            <a:avLst/>
          </a:prstGeom>
          <a:solidFill>
            <a:srgbClr val="EFEBFA"/>
          </a:solidFill>
          <a:ln/>
        </p:spPr>
        <p:txBody>
          <a:bodyPr/>
          <a:lstStyle/>
          <a:p>
            <a:endParaRPr lang="en-FR"/>
          </a:p>
        </p:txBody>
      </p:sp>
      <p:pic>
        <p:nvPicPr>
          <p:cNvPr id="5" name="Image 0" descr="preencoded.png">
            <a:extLst>
              <a:ext uri="{FF2B5EF4-FFF2-40B4-BE49-F238E27FC236}">
                <a16:creationId xmlns:a16="http://schemas.microsoft.com/office/drawing/2014/main" id="{37E5F538-1FD7-6713-E15B-9246F4751461}"/>
              </a:ext>
            </a:extLst>
          </p:cNvPr>
          <p:cNvPicPr>
            <a:picLocks noChangeAspect="1"/>
          </p:cNvPicPr>
          <p:nvPr/>
        </p:nvPicPr>
        <p:blipFill>
          <a:blip r:embed="rId3"/>
          <a:stretch>
            <a:fillRect/>
          </a:stretch>
        </p:blipFill>
        <p:spPr>
          <a:xfrm>
            <a:off x="8094726" y="642366"/>
            <a:ext cx="315468" cy="315468"/>
          </a:xfrm>
          <a:prstGeom prst="rect">
            <a:avLst/>
          </a:prstGeom>
        </p:spPr>
      </p:pic>
      <p:sp>
        <p:nvSpPr>
          <p:cNvPr id="7" name="Shape 4">
            <a:extLst>
              <a:ext uri="{FF2B5EF4-FFF2-40B4-BE49-F238E27FC236}">
                <a16:creationId xmlns:a16="http://schemas.microsoft.com/office/drawing/2014/main" id="{F4D8341C-42D6-D056-D80B-42DEDEA6268C}"/>
              </a:ext>
            </a:extLst>
          </p:cNvPr>
          <p:cNvSpPr/>
          <p:nvPr/>
        </p:nvSpPr>
        <p:spPr>
          <a:xfrm>
            <a:off x="548640" y="1159002"/>
            <a:ext cx="8046720" cy="3840218"/>
          </a:xfrm>
          <a:prstGeom prst="roundRect">
            <a:avLst>
              <a:gd name="adj" fmla="val 8537"/>
            </a:avLst>
          </a:prstGeom>
          <a:solidFill>
            <a:srgbClr val="191233"/>
          </a:solidFill>
          <a:ln w="12700">
            <a:solidFill>
              <a:srgbClr val="34294F"/>
            </a:solidFill>
            <a:prstDash val="solid"/>
          </a:ln>
          <a:effectLst>
            <a:outerShdw blurRad="101600" dist="25400" dir="5400000" algn="bl" rotWithShape="0">
              <a:srgbClr val="191233">
                <a:alpha val="10000"/>
              </a:srgbClr>
            </a:outerShdw>
          </a:effectLst>
        </p:spPr>
        <p:txBody>
          <a:bodyPr/>
          <a:lstStyle/>
          <a:p>
            <a:endParaRPr lang="en-FR"/>
          </a:p>
        </p:txBody>
      </p:sp>
      <p:sp>
        <p:nvSpPr>
          <p:cNvPr id="8" name="Text 5">
            <a:extLst>
              <a:ext uri="{FF2B5EF4-FFF2-40B4-BE49-F238E27FC236}">
                <a16:creationId xmlns:a16="http://schemas.microsoft.com/office/drawing/2014/main" id="{23D573DA-2DA6-A0DA-831F-14C6EFAAEB55}"/>
              </a:ext>
            </a:extLst>
          </p:cNvPr>
          <p:cNvSpPr/>
          <p:nvPr/>
        </p:nvSpPr>
        <p:spPr>
          <a:xfrm>
            <a:off x="777240" y="1252728"/>
            <a:ext cx="1463040" cy="749808"/>
          </a:xfrm>
          <a:prstGeom prst="rect">
            <a:avLst/>
          </a:prstGeom>
          <a:noFill/>
          <a:ln/>
        </p:spPr>
        <p:txBody>
          <a:bodyPr wrap="square" lIns="0" tIns="0" rIns="0" bIns="0" rtlCol="0" anchor="ctr"/>
          <a:lstStyle/>
          <a:p>
            <a:pPr marL="0" indent="0">
              <a:buNone/>
            </a:pPr>
            <a:r>
              <a:rPr lang="en-US" sz="1200" b="1" kern="0" spc="200" dirty="0">
                <a:solidFill>
                  <a:srgbClr val="A99BE8"/>
                </a:solidFill>
                <a:latin typeface="Calibri" pitchFamily="34" charset="0"/>
                <a:ea typeface="Calibri" pitchFamily="34" charset="-122"/>
                <a:cs typeface="Calibri" pitchFamily="34" charset="-120"/>
              </a:rPr>
              <a:t>PROMPT</a:t>
            </a:r>
            <a:endParaRPr lang="en-US" sz="1200" dirty="0"/>
          </a:p>
        </p:txBody>
      </p:sp>
      <p:sp>
        <p:nvSpPr>
          <p:cNvPr id="9" name="Text 6">
            <a:extLst>
              <a:ext uri="{FF2B5EF4-FFF2-40B4-BE49-F238E27FC236}">
                <a16:creationId xmlns:a16="http://schemas.microsoft.com/office/drawing/2014/main" id="{1EE92CDB-0BB4-10E0-6E2C-12BCCCC6D823}"/>
              </a:ext>
            </a:extLst>
          </p:cNvPr>
          <p:cNvSpPr/>
          <p:nvPr/>
        </p:nvSpPr>
        <p:spPr>
          <a:xfrm>
            <a:off x="2468880" y="1216152"/>
            <a:ext cx="5760720" cy="3783068"/>
          </a:xfrm>
          <a:prstGeom prst="rect">
            <a:avLst/>
          </a:prstGeom>
          <a:noFill/>
          <a:ln/>
        </p:spPr>
        <p:txBody>
          <a:bodyPr wrap="square" lIns="0" tIns="0" rIns="0" bIns="0" rtlCol="0" anchor="ctr"/>
          <a:lstStyle/>
          <a:p>
            <a:r>
              <a:rPr lang="en-GB" sz="1000" dirty="0">
                <a:solidFill>
                  <a:srgbClr val="CBC7DA"/>
                </a:solidFill>
              </a:rPr>
              <a:t>Use the </a:t>
            </a:r>
            <a:r>
              <a:rPr lang="en-GB" sz="1000" dirty="0" err="1">
                <a:solidFill>
                  <a:srgbClr val="CBC7DA"/>
                </a:solidFill>
              </a:rPr>
              <a:t>qodly</a:t>
            </a:r>
            <a:r>
              <a:rPr lang="en-GB" sz="1000" dirty="0">
                <a:solidFill>
                  <a:srgbClr val="CBC7DA"/>
                </a:solidFill>
              </a:rPr>
              <a:t>-custom-component skill. Scaffold with @</a:t>
            </a:r>
            <a:r>
              <a:rPr lang="en-GB" sz="1000" dirty="0" err="1">
                <a:solidFill>
                  <a:srgbClr val="CBC7DA"/>
                </a:solidFill>
              </a:rPr>
              <a:t>qodly</a:t>
            </a:r>
            <a:r>
              <a:rPr lang="en-GB" sz="1000" dirty="0">
                <a:solidFill>
                  <a:srgbClr val="CBC7DA"/>
                </a:solidFill>
              </a:rPr>
              <a:t>/cli, then implement the component using the standard Build / Render / Config / Settings structure.</a:t>
            </a:r>
          </a:p>
          <a:p>
            <a:r>
              <a:rPr lang="en-GB" sz="1000" dirty="0">
                <a:solidFill>
                  <a:srgbClr val="CBC7DA"/>
                </a:solidFill>
              </a:rPr>
              <a:t>Create a simple rich text editor from scratch for </a:t>
            </a:r>
            <a:r>
              <a:rPr lang="en-GB" sz="1000" dirty="0" err="1">
                <a:solidFill>
                  <a:srgbClr val="CBC7DA"/>
                </a:solidFill>
              </a:rPr>
              <a:t>Qodly</a:t>
            </a:r>
            <a:r>
              <a:rPr lang="en-GB" sz="1000" dirty="0">
                <a:solidFill>
                  <a:srgbClr val="CBC7DA"/>
                </a:solidFill>
              </a:rPr>
              <a:t>. The component must use a three-part contract: Props, Events, and </a:t>
            </a:r>
            <a:r>
              <a:rPr lang="en-GB" sz="1000" dirty="0" err="1">
                <a:solidFill>
                  <a:srgbClr val="CBC7DA"/>
                </a:solidFill>
              </a:rPr>
              <a:t>Behavior</a:t>
            </a:r>
            <a:r>
              <a:rPr lang="en-GB" sz="1000" dirty="0">
                <a:solidFill>
                  <a:srgbClr val="CBC7DA"/>
                </a:solidFill>
              </a:rPr>
              <a:t>.</a:t>
            </a:r>
          </a:p>
          <a:p>
            <a:endParaRPr lang="en-GB" sz="1000" dirty="0"/>
          </a:p>
          <a:p>
            <a:r>
              <a:rPr lang="en-GB" sz="1000" b="1" dirty="0">
                <a:solidFill>
                  <a:srgbClr val="A99BE8"/>
                </a:solidFill>
              </a:rPr>
              <a:t>Props define what flows into the component:</a:t>
            </a:r>
          </a:p>
          <a:p>
            <a:pPr marL="628650" lvl="1" indent="-171450">
              <a:buFont typeface="Arial" panose="020B0604020202020204" pitchFamily="34" charset="0"/>
              <a:buChar char="•"/>
            </a:pPr>
            <a:r>
              <a:rPr lang="en-GB" sz="1000" dirty="0" err="1">
                <a:solidFill>
                  <a:srgbClr val="CBC7DA"/>
                </a:solidFill>
              </a:rPr>
              <a:t>datasource</a:t>
            </a:r>
            <a:r>
              <a:rPr lang="en-GB" sz="1000" dirty="0">
                <a:solidFill>
                  <a:srgbClr val="CBC7DA"/>
                </a:solidFill>
              </a:rPr>
              <a:t>: required </a:t>
            </a:r>
            <a:r>
              <a:rPr lang="en-GB" sz="1000" dirty="0" err="1">
                <a:solidFill>
                  <a:srgbClr val="CBC7DA"/>
                </a:solidFill>
              </a:rPr>
              <a:t>Qodly</a:t>
            </a:r>
            <a:r>
              <a:rPr lang="en-GB" sz="1000" dirty="0">
                <a:solidFill>
                  <a:srgbClr val="CBC7DA"/>
                </a:solidFill>
              </a:rPr>
              <a:t> string </a:t>
            </a:r>
            <a:r>
              <a:rPr lang="en-GB" sz="1000" dirty="0" err="1">
                <a:solidFill>
                  <a:srgbClr val="CBC7DA"/>
                </a:solidFill>
              </a:rPr>
              <a:t>datasource</a:t>
            </a:r>
            <a:r>
              <a:rPr lang="en-GB" sz="1000" dirty="0">
                <a:solidFill>
                  <a:srgbClr val="CBC7DA"/>
                </a:solidFill>
              </a:rPr>
              <a:t> containing HTML text. Accept external updates and configure </a:t>
            </a:r>
            <a:r>
              <a:rPr lang="en-GB" sz="1000" dirty="0" err="1">
                <a:solidFill>
                  <a:srgbClr val="CBC7DA"/>
                </a:solidFill>
              </a:rPr>
              <a:t>datasources.accept</a:t>
            </a:r>
            <a:r>
              <a:rPr lang="en-GB" sz="1000" dirty="0">
                <a:solidFill>
                  <a:srgbClr val="CBC7DA"/>
                </a:solidFill>
              </a:rPr>
              <a:t>: ['string'].</a:t>
            </a:r>
          </a:p>
          <a:p>
            <a:pPr marL="628650" lvl="1" indent="-171450">
              <a:buFont typeface="Arial" panose="020B0604020202020204" pitchFamily="34" charset="0"/>
              <a:buChar char="•"/>
            </a:pPr>
            <a:r>
              <a:rPr lang="en-GB" sz="1000" dirty="0">
                <a:solidFill>
                  <a:srgbClr val="CBC7DA"/>
                </a:solidFill>
              </a:rPr>
              <a:t>placeholder: text displayed when the editor is empty. Default: "Enter text...".</a:t>
            </a:r>
          </a:p>
          <a:p>
            <a:pPr marL="628650" lvl="1" indent="-171450">
              <a:buFont typeface="Arial" panose="020B0604020202020204" pitchFamily="34" charset="0"/>
              <a:buChar char="•"/>
            </a:pPr>
            <a:r>
              <a:rPr lang="en-GB" sz="1000" dirty="0" err="1">
                <a:solidFill>
                  <a:srgbClr val="CBC7DA"/>
                </a:solidFill>
              </a:rPr>
              <a:t>readOnly</a:t>
            </a:r>
            <a:r>
              <a:rPr lang="en-GB" sz="1000" dirty="0">
                <a:solidFill>
                  <a:srgbClr val="CBC7DA"/>
                </a:solidFill>
              </a:rPr>
              <a:t>: disables editing while keeping the content visible. Default: false.</a:t>
            </a:r>
          </a:p>
          <a:p>
            <a:pPr marL="628650" lvl="1" indent="-171450">
              <a:buFont typeface="Arial" panose="020B0604020202020204" pitchFamily="34" charset="0"/>
              <a:buChar char="•"/>
            </a:pPr>
            <a:r>
              <a:rPr lang="en-GB" sz="1000" dirty="0" err="1">
                <a:solidFill>
                  <a:srgbClr val="CBC7DA"/>
                </a:solidFill>
              </a:rPr>
              <a:t>minHeight</a:t>
            </a:r>
            <a:r>
              <a:rPr lang="en-GB" sz="1000" dirty="0">
                <a:solidFill>
                  <a:srgbClr val="CBC7DA"/>
                </a:solidFill>
              </a:rPr>
              <a:t>: defines the minimum editor height.</a:t>
            </a:r>
          </a:p>
          <a:p>
            <a:r>
              <a:rPr lang="en-GB" sz="1000" dirty="0">
                <a:solidFill>
                  <a:srgbClr val="CBC7DA"/>
                </a:solidFill>
              </a:rPr>
              <a:t>The </a:t>
            </a:r>
            <a:r>
              <a:rPr lang="en-GB" sz="1000" dirty="0" err="1">
                <a:solidFill>
                  <a:srgbClr val="CBC7DA"/>
                </a:solidFill>
              </a:rPr>
              <a:t>datasource</a:t>
            </a:r>
            <a:r>
              <a:rPr lang="en-GB" sz="1000" dirty="0">
                <a:solidFill>
                  <a:srgbClr val="CBC7DA"/>
                </a:solidFill>
              </a:rPr>
              <a:t> value must remain a plain string containing HTML, such as:</a:t>
            </a:r>
          </a:p>
          <a:p>
            <a:r>
              <a:rPr lang="en-GB" sz="1000" dirty="0">
                <a:solidFill>
                  <a:srgbClr val="FFFFFF"/>
                </a:solidFill>
                <a:latin typeface="Courier New"/>
                <a:cs typeface="Courier New"/>
              </a:rPr>
              <a:t>"" ,"&lt;p&gt;Hello&lt;/p&gt;" ,"&lt;p&gt;Hello &lt;strong&gt;world&lt;/strong&gt;&lt;/p&gt;”</a:t>
            </a:r>
          </a:p>
          <a:p>
            <a:endParaRPr lang="en-GB" sz="1000" dirty="0"/>
          </a:p>
          <a:p>
            <a:r>
              <a:rPr lang="en-GB" sz="1000" dirty="0">
                <a:solidFill>
                  <a:srgbClr val="CBC7DA"/>
                </a:solidFill>
              </a:rPr>
              <a:t>Do not use JSON or a rich-text document model.</a:t>
            </a:r>
          </a:p>
          <a:p>
            <a:r>
              <a:rPr lang="en-GB" sz="1000" b="1" dirty="0">
                <a:solidFill>
                  <a:srgbClr val="A99BE8"/>
                </a:solidFill>
              </a:rPr>
              <a:t>Events define what flows out:</a:t>
            </a:r>
          </a:p>
          <a:p>
            <a:pPr marL="628650" lvl="1" indent="-171450">
              <a:buFont typeface="Arial" panose="020B0604020202020204" pitchFamily="34" charset="0"/>
              <a:buChar char="•"/>
            </a:pPr>
            <a:r>
              <a:rPr lang="en-GB" sz="1000" dirty="0" err="1">
                <a:solidFill>
                  <a:srgbClr val="CBC7DA"/>
                </a:solidFill>
              </a:rPr>
              <a:t>onChange</a:t>
            </a:r>
            <a:r>
              <a:rPr lang="en-GB" sz="1000" dirty="0">
                <a:solidFill>
                  <a:srgbClr val="CBC7DA"/>
                </a:solidFill>
              </a:rPr>
              <a:t>: fired about 300 </a:t>
            </a:r>
            <a:r>
              <a:rPr lang="en-GB" sz="1000" dirty="0" err="1">
                <a:solidFill>
                  <a:srgbClr val="CBC7DA"/>
                </a:solidFill>
              </a:rPr>
              <a:t>ms</a:t>
            </a:r>
            <a:r>
              <a:rPr lang="en-GB" sz="1000" dirty="0">
                <a:solidFill>
                  <a:srgbClr val="CBC7DA"/>
                </a:solidFill>
              </a:rPr>
              <a:t> after the user edits the content, with { value: string }.</a:t>
            </a:r>
          </a:p>
          <a:p>
            <a:pPr marL="628650" lvl="1" indent="-171450">
              <a:buFont typeface="Arial" panose="020B0604020202020204" pitchFamily="34" charset="0"/>
              <a:buChar char="•"/>
            </a:pPr>
            <a:r>
              <a:rPr lang="en-GB" sz="1000" dirty="0" err="1">
                <a:solidFill>
                  <a:srgbClr val="CBC7DA"/>
                </a:solidFill>
              </a:rPr>
              <a:t>onFocus</a:t>
            </a:r>
            <a:r>
              <a:rPr lang="en-GB" sz="1000" dirty="0">
                <a:solidFill>
                  <a:srgbClr val="CBC7DA"/>
                </a:solidFill>
              </a:rPr>
              <a:t>: fired when the editor receives focus, with {}.</a:t>
            </a:r>
          </a:p>
          <a:p>
            <a:pPr marL="628650" lvl="1" indent="-171450">
              <a:buFont typeface="Arial" panose="020B0604020202020204" pitchFamily="34" charset="0"/>
              <a:buChar char="•"/>
            </a:pPr>
            <a:r>
              <a:rPr lang="en-GB" sz="1000" dirty="0" err="1">
                <a:solidFill>
                  <a:srgbClr val="CBC7DA"/>
                </a:solidFill>
              </a:rPr>
              <a:t>onBlur</a:t>
            </a:r>
            <a:r>
              <a:rPr lang="en-GB" sz="1000" dirty="0">
                <a:solidFill>
                  <a:srgbClr val="CBC7DA"/>
                </a:solidFill>
              </a:rPr>
              <a:t>: fired when the editor loses focus, with { value: string }.</a:t>
            </a:r>
          </a:p>
          <a:p>
            <a:pPr marL="628650" lvl="1" indent="-171450">
              <a:buFont typeface="Arial" panose="020B0604020202020204" pitchFamily="34" charset="0"/>
              <a:buChar char="•"/>
            </a:pPr>
            <a:endParaRPr lang="en-GB" sz="1000" dirty="0"/>
          </a:p>
          <a:p>
            <a:r>
              <a:rPr lang="en-GB" sz="1000" b="1" dirty="0" err="1">
                <a:solidFill>
                  <a:srgbClr val="A99BE8"/>
                </a:solidFill>
              </a:rPr>
              <a:t>Behavior</a:t>
            </a:r>
            <a:r>
              <a:rPr lang="en-GB" sz="1000" b="1" dirty="0">
                <a:solidFill>
                  <a:srgbClr val="A99BE8"/>
                </a:solidFill>
              </a:rPr>
              <a:t>:</a:t>
            </a:r>
          </a:p>
          <a:p>
            <a:r>
              <a:rPr lang="en-GB" sz="1000" dirty="0">
                <a:solidFill>
                  <a:srgbClr val="CBC7DA"/>
                </a:solidFill>
              </a:rPr>
              <a:t>Render and edit basic formatted HTML, synchronize external </a:t>
            </a:r>
            <a:r>
              <a:rPr lang="en-GB" sz="1000" dirty="0" err="1">
                <a:solidFill>
                  <a:srgbClr val="CBC7DA"/>
                </a:solidFill>
              </a:rPr>
              <a:t>datasource</a:t>
            </a:r>
            <a:r>
              <a:rPr lang="en-GB" sz="1000" dirty="0">
                <a:solidFill>
                  <a:srgbClr val="CBC7DA"/>
                </a:solidFill>
              </a:rPr>
              <a:t> updates, emit clean HTML strings, support placeholder and read-only states, and avoid unnecessary update loops. Include basic formatting actions such as bold, italic, underline, headings, lists, links, and text alignment.</a:t>
            </a:r>
          </a:p>
        </p:txBody>
      </p:sp>
    </p:spTree>
    <p:extLst>
      <p:ext uri="{BB962C8B-B14F-4D97-AF65-F5344CB8AC3E}">
        <p14:creationId xmlns:p14="http://schemas.microsoft.com/office/powerpoint/2010/main" val="2923878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marL="0" indent="0">
              <a:buNone/>
            </a:pPr>
            <a:r>
              <a:rPr lang="en-US" sz="1200" b="1" kern="0" spc="300" dirty="0">
                <a:solidFill>
                  <a:srgbClr val="6E56CF"/>
                </a:solidFill>
                <a:latin typeface="Calibri" pitchFamily="34" charset="0"/>
                <a:ea typeface="Calibri" pitchFamily="34" charset="-122"/>
                <a:cs typeface="Calibri" pitchFamily="34" charset="-120"/>
              </a:rPr>
              <a:t>LIVE DEMO 2 · TASKS MANAGER</a:t>
            </a:r>
            <a:endParaRPr lang="en-US" sz="1200" dirty="0"/>
          </a:p>
        </p:txBody>
      </p:sp>
      <p:sp>
        <p:nvSpPr>
          <p:cNvPr id="3" name="Text 1"/>
          <p:cNvSpPr/>
          <p:nvPr/>
        </p:nvSpPr>
        <p:spPr>
          <a:xfrm>
            <a:off x="548640" y="658368"/>
            <a:ext cx="8046720" cy="594360"/>
          </a:xfrm>
          <a:prstGeom prst="rect">
            <a:avLst/>
          </a:prstGeom>
          <a:noFill/>
          <a:ln/>
        </p:spPr>
        <p:txBody>
          <a:bodyPr wrap="square" lIns="0" tIns="0" rIns="0" bIns="0" rtlCol="0" anchor="ctr"/>
          <a:lstStyle/>
          <a:p>
            <a:pPr marL="0" indent="0">
              <a:buNone/>
            </a:pPr>
            <a:r>
              <a:rPr lang="en-US" sz="3000" b="1" dirty="0">
                <a:solidFill>
                  <a:srgbClr val="23202E"/>
                </a:solidFill>
                <a:latin typeface="Calibri" pitchFamily="34" charset="0"/>
                <a:ea typeface="Calibri" pitchFamily="34" charset="-122"/>
                <a:cs typeface="Calibri" pitchFamily="34" charset="-120"/>
              </a:rPr>
              <a:t>Progress Gauge</a:t>
            </a:r>
            <a:endParaRPr lang="en-US" sz="3000" dirty="0"/>
          </a:p>
        </p:txBody>
      </p:sp>
      <p:sp>
        <p:nvSpPr>
          <p:cNvPr id="4" name="Shape 2"/>
          <p:cNvSpPr/>
          <p:nvPr/>
        </p:nvSpPr>
        <p:spPr>
          <a:xfrm>
            <a:off x="7909560" y="457200"/>
            <a:ext cx="685800" cy="685800"/>
          </a:xfrm>
          <a:prstGeom prst="ellipse">
            <a:avLst/>
          </a:prstGeom>
          <a:solidFill>
            <a:srgbClr val="EFEBFA"/>
          </a:solidFill>
          <a:ln/>
        </p:spPr>
        <p:txBody>
          <a:bodyPr/>
          <a:lstStyle/>
          <a:p>
            <a:endParaRPr lang="en-FR"/>
          </a:p>
        </p:txBody>
      </p:sp>
      <p:pic>
        <p:nvPicPr>
          <p:cNvPr id="5" name="Image 0" descr="preencoded.png"/>
          <p:cNvPicPr>
            <a:picLocks noChangeAspect="1"/>
          </p:cNvPicPr>
          <p:nvPr/>
        </p:nvPicPr>
        <p:blipFill>
          <a:blip r:embed="rId3"/>
          <a:stretch>
            <a:fillRect/>
          </a:stretch>
        </p:blipFill>
        <p:spPr>
          <a:xfrm>
            <a:off x="8094726" y="642366"/>
            <a:ext cx="315468" cy="315468"/>
          </a:xfrm>
          <a:prstGeom prst="rect">
            <a:avLst/>
          </a:prstGeom>
        </p:spPr>
      </p:pic>
      <p:sp>
        <p:nvSpPr>
          <p:cNvPr id="6" name="Text 3"/>
          <p:cNvSpPr/>
          <p:nvPr/>
        </p:nvSpPr>
        <p:spPr>
          <a:xfrm>
            <a:off x="548640" y="1417320"/>
            <a:ext cx="8046720" cy="320040"/>
          </a:xfrm>
          <a:prstGeom prst="rect">
            <a:avLst/>
          </a:prstGeom>
          <a:noFill/>
          <a:ln/>
        </p:spPr>
        <p:txBody>
          <a:bodyPr wrap="square" lIns="0" tIns="0" rIns="0" bIns="0" rtlCol="0" anchor="ctr"/>
          <a:lstStyle/>
          <a:p>
            <a:pPr marL="0" indent="0">
              <a:buNone/>
            </a:pPr>
            <a:r>
              <a:rPr lang="en-US" sz="1400" i="1" dirty="0">
                <a:solidFill>
                  <a:srgbClr val="6F6B7D"/>
                </a:solidFill>
                <a:latin typeface="Calibri" pitchFamily="34" charset="0"/>
                <a:ea typeface="Calibri" pitchFamily="34" charset="-122"/>
                <a:cs typeface="Calibri" pitchFamily="34" charset="-120"/>
              </a:rPr>
              <a:t>Turn Task.Percent into a visual completion ring</a:t>
            </a:r>
            <a:endParaRPr lang="en-US" sz="1400" dirty="0"/>
          </a:p>
        </p:txBody>
      </p:sp>
      <p:sp>
        <p:nvSpPr>
          <p:cNvPr id="7" name="Shape 4"/>
          <p:cNvSpPr/>
          <p:nvPr/>
        </p:nvSpPr>
        <p:spPr>
          <a:xfrm>
            <a:off x="548640" y="1965960"/>
            <a:ext cx="8046720" cy="749808"/>
          </a:xfrm>
          <a:prstGeom prst="roundRect">
            <a:avLst>
              <a:gd name="adj" fmla="val 8537"/>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8" name="Text 5"/>
          <p:cNvSpPr/>
          <p:nvPr/>
        </p:nvSpPr>
        <p:spPr>
          <a:xfrm>
            <a:off x="868680" y="1965960"/>
            <a:ext cx="1463040" cy="749808"/>
          </a:xfrm>
          <a:prstGeom prst="rect">
            <a:avLst/>
          </a:prstGeom>
          <a:noFill/>
          <a:ln/>
        </p:spPr>
        <p:txBody>
          <a:bodyPr wrap="square" lIns="0" tIns="0" rIns="0" bIns="0" rtlCol="0" anchor="ctr"/>
          <a:lstStyle/>
          <a:p>
            <a:pPr marL="0" indent="0">
              <a:buNone/>
            </a:pPr>
            <a:r>
              <a:rPr lang="en-US" sz="1200" b="1" kern="0" spc="200" dirty="0">
                <a:solidFill>
                  <a:srgbClr val="6E56CF"/>
                </a:solidFill>
                <a:latin typeface="Calibri" pitchFamily="34" charset="0"/>
                <a:ea typeface="Calibri" pitchFamily="34" charset="-122"/>
                <a:cs typeface="Calibri" pitchFamily="34" charset="-120"/>
              </a:rPr>
              <a:t>PROPS</a:t>
            </a:r>
            <a:endParaRPr lang="en-US" sz="1200" dirty="0"/>
          </a:p>
        </p:txBody>
      </p:sp>
      <p:sp>
        <p:nvSpPr>
          <p:cNvPr id="9" name="Text 6"/>
          <p:cNvSpPr/>
          <p:nvPr/>
        </p:nvSpPr>
        <p:spPr>
          <a:xfrm>
            <a:off x="2468880" y="1965960"/>
            <a:ext cx="5760720" cy="749808"/>
          </a:xfrm>
          <a:prstGeom prst="rect">
            <a:avLst/>
          </a:prstGeom>
          <a:noFill/>
          <a:ln/>
        </p:spPr>
        <p:txBody>
          <a:bodyPr wrap="square" lIns="0" tIns="0" rIns="0" bIns="0" rtlCol="0" anchor="ctr"/>
          <a:lstStyle/>
          <a:p>
            <a:pPr marL="0" indent="0">
              <a:lnSpc>
                <a:spcPts val="1700"/>
              </a:lnSpc>
              <a:buNone/>
            </a:pPr>
            <a:r>
              <a:rPr lang="en-US" sz="1300" dirty="0">
                <a:solidFill>
                  <a:srgbClr val="23202E"/>
                </a:solidFill>
                <a:latin typeface="Calibri" pitchFamily="34" charset="0"/>
                <a:ea typeface="Calibri" pitchFamily="34" charset="-122"/>
                <a:cs typeface="Calibri" pitchFamily="34" charset="-120"/>
              </a:rPr>
              <a:t>value : number (0–100) — bound to Task.Percent</a:t>
            </a:r>
            <a:endParaRPr lang="en-US" sz="1300" dirty="0"/>
          </a:p>
        </p:txBody>
      </p:sp>
      <p:sp>
        <p:nvSpPr>
          <p:cNvPr id="10" name="Shape 7"/>
          <p:cNvSpPr/>
          <p:nvPr/>
        </p:nvSpPr>
        <p:spPr>
          <a:xfrm>
            <a:off x="548640" y="2916936"/>
            <a:ext cx="8046720" cy="749808"/>
          </a:xfrm>
          <a:prstGeom prst="roundRect">
            <a:avLst>
              <a:gd name="adj" fmla="val 8537"/>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11" name="Text 8"/>
          <p:cNvSpPr/>
          <p:nvPr/>
        </p:nvSpPr>
        <p:spPr>
          <a:xfrm>
            <a:off x="868680" y="2916936"/>
            <a:ext cx="1463040" cy="749808"/>
          </a:xfrm>
          <a:prstGeom prst="rect">
            <a:avLst/>
          </a:prstGeom>
          <a:noFill/>
          <a:ln/>
        </p:spPr>
        <p:txBody>
          <a:bodyPr wrap="square" lIns="0" tIns="0" rIns="0" bIns="0" rtlCol="0" anchor="ctr"/>
          <a:lstStyle/>
          <a:p>
            <a:pPr marL="0" indent="0">
              <a:buNone/>
            </a:pPr>
            <a:r>
              <a:rPr lang="en-US" sz="1200" b="1" kern="0" spc="200" dirty="0">
                <a:solidFill>
                  <a:srgbClr val="6E56CF"/>
                </a:solidFill>
                <a:latin typeface="Calibri" pitchFamily="34" charset="0"/>
                <a:ea typeface="Calibri" pitchFamily="34" charset="-122"/>
                <a:cs typeface="Calibri" pitchFamily="34" charset="-120"/>
              </a:rPr>
              <a:t>EVENTS</a:t>
            </a:r>
            <a:endParaRPr lang="en-US" sz="1200" dirty="0"/>
          </a:p>
        </p:txBody>
      </p:sp>
      <p:sp>
        <p:nvSpPr>
          <p:cNvPr id="12" name="Text 9"/>
          <p:cNvSpPr/>
          <p:nvPr/>
        </p:nvSpPr>
        <p:spPr>
          <a:xfrm>
            <a:off x="2468880" y="2916936"/>
            <a:ext cx="5760720" cy="749808"/>
          </a:xfrm>
          <a:prstGeom prst="rect">
            <a:avLst/>
          </a:prstGeom>
          <a:noFill/>
          <a:ln/>
        </p:spPr>
        <p:txBody>
          <a:bodyPr wrap="square" lIns="0" tIns="0" rIns="0" bIns="0" rtlCol="0" anchor="ctr"/>
          <a:lstStyle/>
          <a:p>
            <a:pPr marL="0" indent="0">
              <a:lnSpc>
                <a:spcPts val="1700"/>
              </a:lnSpc>
              <a:buNone/>
            </a:pPr>
            <a:r>
              <a:rPr lang="en-US" sz="1300" dirty="0">
                <a:solidFill>
                  <a:srgbClr val="23202E"/>
                </a:solidFill>
                <a:latin typeface="Calibri" pitchFamily="34" charset="0"/>
                <a:ea typeface="Calibri" pitchFamily="34" charset="-122"/>
                <a:cs typeface="Calibri" pitchFamily="34" charset="-120"/>
              </a:rPr>
              <a:t>onValueChange(value) — updates the entity as the user drags</a:t>
            </a:r>
            <a:endParaRPr lang="en-US" sz="1300" dirty="0"/>
          </a:p>
        </p:txBody>
      </p:sp>
      <p:sp>
        <p:nvSpPr>
          <p:cNvPr id="13" name="Shape 10"/>
          <p:cNvSpPr/>
          <p:nvPr/>
        </p:nvSpPr>
        <p:spPr>
          <a:xfrm>
            <a:off x="548640" y="3867912"/>
            <a:ext cx="8046720" cy="749808"/>
          </a:xfrm>
          <a:prstGeom prst="roundRect">
            <a:avLst>
              <a:gd name="adj" fmla="val 8537"/>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dirty="0"/>
          </a:p>
        </p:txBody>
      </p:sp>
      <p:sp>
        <p:nvSpPr>
          <p:cNvPr id="14" name="Text 11"/>
          <p:cNvSpPr/>
          <p:nvPr/>
        </p:nvSpPr>
        <p:spPr>
          <a:xfrm>
            <a:off x="868680" y="3867912"/>
            <a:ext cx="1463040" cy="749808"/>
          </a:xfrm>
          <a:prstGeom prst="rect">
            <a:avLst/>
          </a:prstGeom>
          <a:noFill/>
          <a:ln/>
        </p:spPr>
        <p:txBody>
          <a:bodyPr wrap="square" lIns="0" tIns="0" rIns="0" bIns="0" rtlCol="0" anchor="ctr"/>
          <a:lstStyle/>
          <a:p>
            <a:pPr marL="0" indent="0">
              <a:buNone/>
            </a:pPr>
            <a:r>
              <a:rPr lang="en-US" sz="1200" b="1" kern="0" spc="200" dirty="0">
                <a:solidFill>
                  <a:srgbClr val="6E56CF"/>
                </a:solidFill>
                <a:latin typeface="Calibri" pitchFamily="34" charset="0"/>
                <a:ea typeface="Calibri" pitchFamily="34" charset="-122"/>
                <a:cs typeface="Calibri" pitchFamily="34" charset="-120"/>
              </a:rPr>
              <a:t>BEHAVIOR</a:t>
            </a:r>
            <a:endParaRPr lang="en-US" sz="1200" dirty="0"/>
          </a:p>
        </p:txBody>
      </p:sp>
      <p:sp>
        <p:nvSpPr>
          <p:cNvPr id="15" name="Text 12"/>
          <p:cNvSpPr/>
          <p:nvPr/>
        </p:nvSpPr>
        <p:spPr>
          <a:xfrm>
            <a:off x="2468880" y="3867912"/>
            <a:ext cx="5760720" cy="749808"/>
          </a:xfrm>
          <a:prstGeom prst="rect">
            <a:avLst/>
          </a:prstGeom>
          <a:noFill/>
          <a:ln/>
        </p:spPr>
        <p:txBody>
          <a:bodyPr wrap="square" lIns="0" tIns="0" rIns="0" bIns="0" rtlCol="0" anchor="ctr"/>
          <a:lstStyle/>
          <a:p>
            <a:pPr marL="0" indent="0">
              <a:lnSpc>
                <a:spcPts val="1700"/>
              </a:lnSpc>
              <a:buNone/>
            </a:pPr>
            <a:r>
              <a:rPr lang="en-US" sz="1300" dirty="0">
                <a:solidFill>
                  <a:srgbClr val="23202E"/>
                </a:solidFill>
                <a:latin typeface="Calibri" pitchFamily="34" charset="0"/>
                <a:ea typeface="Calibri" pitchFamily="34" charset="-122"/>
                <a:cs typeface="Calibri" pitchFamily="34" charset="-120"/>
              </a:rPr>
              <a:t>Circular ring with color thresholds: red &lt; 30 %, orange &lt; 70 %, green above</a:t>
            </a:r>
            <a:endParaRPr lang="en-US" sz="1300" dirty="0"/>
          </a:p>
        </p:txBody>
      </p:sp>
      <p:sp>
        <p:nvSpPr>
          <p:cNvPr id="16" name="Text 13"/>
          <p:cNvSpPr/>
          <p:nvPr/>
        </p:nvSpPr>
        <p:spPr>
          <a:xfrm>
            <a:off x="548640" y="4754880"/>
            <a:ext cx="8046720" cy="274320"/>
          </a:xfrm>
          <a:prstGeom prst="rect">
            <a:avLst/>
          </a:prstGeom>
          <a:noFill/>
          <a:ln/>
        </p:spPr>
        <p:txBody>
          <a:bodyPr wrap="square" lIns="0" tIns="0" rIns="0" bIns="0" rtlCol="0" anchor="ctr"/>
          <a:lstStyle/>
          <a:p>
            <a:pPr marL="0" indent="0" algn="ctr">
              <a:buNone/>
            </a:pPr>
            <a:r>
              <a:rPr lang="en-US" sz="1200" dirty="0">
                <a:solidFill>
                  <a:srgbClr val="6F6B7D"/>
                </a:solidFill>
                <a:latin typeface="Calibri" pitchFamily="34" charset="0"/>
                <a:ea typeface="Calibri" pitchFamily="34" charset="-122"/>
                <a:cs typeface="Calibri" pitchFamily="34" charset="-120"/>
              </a:rPr>
              <a:t>One prompt. One component. Bound to ORDA in minutes.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83F8105-B8E9-E3D8-994E-A044CA65D0A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CCAED6A-C0C2-BFA5-29A8-859CEC0E4A02}"/>
              </a:ext>
            </a:extLst>
          </p:cNvPr>
          <p:cNvSpPr/>
          <p:nvPr/>
        </p:nvSpPr>
        <p:spPr>
          <a:xfrm>
            <a:off x="548640" y="384048"/>
            <a:ext cx="8046720" cy="274320"/>
          </a:xfrm>
          <a:prstGeom prst="rect">
            <a:avLst/>
          </a:prstGeom>
          <a:noFill/>
          <a:ln/>
        </p:spPr>
        <p:txBody>
          <a:bodyPr wrap="square" lIns="0" tIns="0" rIns="0" bIns="0" rtlCol="0" anchor="ctr"/>
          <a:lstStyle/>
          <a:p>
            <a:pPr marL="0" indent="0">
              <a:buNone/>
            </a:pPr>
            <a:r>
              <a:rPr lang="en-US" sz="1200" b="1" kern="0" spc="300" dirty="0">
                <a:solidFill>
                  <a:srgbClr val="6E56CF"/>
                </a:solidFill>
                <a:latin typeface="Calibri" pitchFamily="34" charset="0"/>
                <a:ea typeface="Calibri" pitchFamily="34" charset="-122"/>
                <a:cs typeface="Calibri" pitchFamily="34" charset="-120"/>
              </a:rPr>
              <a:t>LIVE DEMO 2 · TASKS MANAGER</a:t>
            </a:r>
            <a:endParaRPr lang="en-US" sz="1200" dirty="0"/>
          </a:p>
        </p:txBody>
      </p:sp>
      <p:sp>
        <p:nvSpPr>
          <p:cNvPr id="3" name="Text 1">
            <a:extLst>
              <a:ext uri="{FF2B5EF4-FFF2-40B4-BE49-F238E27FC236}">
                <a16:creationId xmlns:a16="http://schemas.microsoft.com/office/drawing/2014/main" id="{69DAA655-4C6A-1D14-B1E8-3FC964148DBD}"/>
              </a:ext>
            </a:extLst>
          </p:cNvPr>
          <p:cNvSpPr/>
          <p:nvPr/>
        </p:nvSpPr>
        <p:spPr>
          <a:xfrm>
            <a:off x="548640" y="658368"/>
            <a:ext cx="8046720" cy="594360"/>
          </a:xfrm>
          <a:prstGeom prst="rect">
            <a:avLst/>
          </a:prstGeom>
          <a:noFill/>
          <a:ln/>
        </p:spPr>
        <p:txBody>
          <a:bodyPr wrap="square" lIns="0" tIns="0" rIns="0" bIns="0" rtlCol="0" anchor="ctr"/>
          <a:lstStyle/>
          <a:p>
            <a:pPr marL="0" indent="0">
              <a:buNone/>
            </a:pPr>
            <a:r>
              <a:rPr lang="en-US" sz="3000" b="1" dirty="0">
                <a:solidFill>
                  <a:srgbClr val="23202E"/>
                </a:solidFill>
                <a:latin typeface="Calibri" pitchFamily="34" charset="0"/>
                <a:ea typeface="Calibri" pitchFamily="34" charset="-122"/>
                <a:cs typeface="Calibri" pitchFamily="34" charset="-120"/>
              </a:rPr>
              <a:t>Progress Gauge</a:t>
            </a:r>
            <a:endParaRPr lang="en-US" sz="3000" dirty="0"/>
          </a:p>
        </p:txBody>
      </p:sp>
      <p:sp>
        <p:nvSpPr>
          <p:cNvPr id="4" name="Shape 2">
            <a:extLst>
              <a:ext uri="{FF2B5EF4-FFF2-40B4-BE49-F238E27FC236}">
                <a16:creationId xmlns:a16="http://schemas.microsoft.com/office/drawing/2014/main" id="{1F96E0B7-4DE8-676D-A3BB-4D878A04F0DE}"/>
              </a:ext>
            </a:extLst>
          </p:cNvPr>
          <p:cNvSpPr/>
          <p:nvPr/>
        </p:nvSpPr>
        <p:spPr>
          <a:xfrm>
            <a:off x="7909560" y="457200"/>
            <a:ext cx="685800" cy="685800"/>
          </a:xfrm>
          <a:prstGeom prst="ellipse">
            <a:avLst/>
          </a:prstGeom>
          <a:solidFill>
            <a:srgbClr val="EFEBFA"/>
          </a:solidFill>
          <a:ln/>
        </p:spPr>
        <p:txBody>
          <a:bodyPr/>
          <a:lstStyle/>
          <a:p>
            <a:endParaRPr lang="en-FR"/>
          </a:p>
        </p:txBody>
      </p:sp>
      <p:pic>
        <p:nvPicPr>
          <p:cNvPr id="5" name="Image 0" descr="preencoded.png">
            <a:extLst>
              <a:ext uri="{FF2B5EF4-FFF2-40B4-BE49-F238E27FC236}">
                <a16:creationId xmlns:a16="http://schemas.microsoft.com/office/drawing/2014/main" id="{9DD16D00-5971-D502-7D99-D429DB5BD1AB}"/>
              </a:ext>
            </a:extLst>
          </p:cNvPr>
          <p:cNvPicPr>
            <a:picLocks noChangeAspect="1"/>
          </p:cNvPicPr>
          <p:nvPr/>
        </p:nvPicPr>
        <p:blipFill>
          <a:blip r:embed="rId3"/>
          <a:stretch>
            <a:fillRect/>
          </a:stretch>
        </p:blipFill>
        <p:spPr>
          <a:xfrm>
            <a:off x="8094726" y="642366"/>
            <a:ext cx="315468" cy="315468"/>
          </a:xfrm>
          <a:prstGeom prst="rect">
            <a:avLst/>
          </a:prstGeom>
        </p:spPr>
      </p:pic>
      <p:sp>
        <p:nvSpPr>
          <p:cNvPr id="7" name="Shape 4">
            <a:extLst>
              <a:ext uri="{FF2B5EF4-FFF2-40B4-BE49-F238E27FC236}">
                <a16:creationId xmlns:a16="http://schemas.microsoft.com/office/drawing/2014/main" id="{0D1E47DE-371B-19BC-6026-4232FBA4994C}"/>
              </a:ext>
            </a:extLst>
          </p:cNvPr>
          <p:cNvSpPr/>
          <p:nvPr/>
        </p:nvSpPr>
        <p:spPr>
          <a:xfrm>
            <a:off x="548640" y="1216152"/>
            <a:ext cx="8046720" cy="3826238"/>
          </a:xfrm>
          <a:prstGeom prst="roundRect">
            <a:avLst>
              <a:gd name="adj" fmla="val 8537"/>
            </a:avLst>
          </a:prstGeom>
          <a:solidFill>
            <a:srgbClr val="191233"/>
          </a:solidFill>
          <a:ln w="12700">
            <a:solidFill>
              <a:srgbClr val="34294F"/>
            </a:solidFill>
            <a:prstDash val="solid"/>
          </a:ln>
          <a:effectLst>
            <a:outerShdw blurRad="101600" dist="25400" dir="5400000" algn="bl" rotWithShape="0">
              <a:srgbClr val="191233">
                <a:alpha val="10000"/>
              </a:srgbClr>
            </a:outerShdw>
          </a:effectLst>
        </p:spPr>
        <p:txBody>
          <a:bodyPr/>
          <a:lstStyle/>
          <a:p>
            <a:endParaRPr lang="en-FR"/>
          </a:p>
        </p:txBody>
      </p:sp>
      <p:sp>
        <p:nvSpPr>
          <p:cNvPr id="8" name="Text 5">
            <a:extLst>
              <a:ext uri="{FF2B5EF4-FFF2-40B4-BE49-F238E27FC236}">
                <a16:creationId xmlns:a16="http://schemas.microsoft.com/office/drawing/2014/main" id="{125DDA61-97F3-0C9F-5535-D44670BD9D98}"/>
              </a:ext>
            </a:extLst>
          </p:cNvPr>
          <p:cNvSpPr/>
          <p:nvPr/>
        </p:nvSpPr>
        <p:spPr>
          <a:xfrm>
            <a:off x="914400" y="1268730"/>
            <a:ext cx="1463040" cy="749808"/>
          </a:xfrm>
          <a:prstGeom prst="rect">
            <a:avLst/>
          </a:prstGeom>
          <a:noFill/>
          <a:ln/>
        </p:spPr>
        <p:txBody>
          <a:bodyPr wrap="square" lIns="0" tIns="0" rIns="0" bIns="0" rtlCol="0" anchor="ctr"/>
          <a:lstStyle/>
          <a:p>
            <a:pPr marL="0" indent="0">
              <a:buNone/>
            </a:pPr>
            <a:r>
              <a:rPr lang="en-US" sz="1200" b="1" kern="0" spc="200" dirty="0">
                <a:solidFill>
                  <a:srgbClr val="A99BE8"/>
                </a:solidFill>
                <a:latin typeface="Calibri" pitchFamily="34" charset="0"/>
                <a:ea typeface="Calibri" pitchFamily="34" charset="-122"/>
                <a:cs typeface="Calibri" pitchFamily="34" charset="-120"/>
              </a:rPr>
              <a:t>PROMPT</a:t>
            </a:r>
            <a:endParaRPr lang="en-US" sz="1200" dirty="0"/>
          </a:p>
        </p:txBody>
      </p:sp>
      <p:sp>
        <p:nvSpPr>
          <p:cNvPr id="9" name="Text 6">
            <a:extLst>
              <a:ext uri="{FF2B5EF4-FFF2-40B4-BE49-F238E27FC236}">
                <a16:creationId xmlns:a16="http://schemas.microsoft.com/office/drawing/2014/main" id="{6DDD2F69-6653-BFB1-9F57-E3A452ED060A}"/>
              </a:ext>
            </a:extLst>
          </p:cNvPr>
          <p:cNvSpPr/>
          <p:nvPr/>
        </p:nvSpPr>
        <p:spPr>
          <a:xfrm>
            <a:off x="2468880" y="1216152"/>
            <a:ext cx="5760720" cy="3753086"/>
          </a:xfrm>
          <a:prstGeom prst="rect">
            <a:avLst/>
          </a:prstGeom>
          <a:noFill/>
          <a:ln/>
        </p:spPr>
        <p:txBody>
          <a:bodyPr wrap="square" lIns="0" tIns="0" rIns="0" bIns="0" rtlCol="0" anchor="ctr"/>
          <a:lstStyle/>
          <a:p>
            <a:r>
              <a:rPr lang="en-GB" sz="1000" dirty="0">
                <a:solidFill>
                  <a:srgbClr val="CBC7DA"/>
                </a:solidFill>
              </a:rPr>
              <a:t>Use the </a:t>
            </a:r>
            <a:r>
              <a:rPr lang="en-GB" sz="1000" dirty="0" err="1">
                <a:solidFill>
                  <a:srgbClr val="CBC7DA"/>
                </a:solidFill>
              </a:rPr>
              <a:t>qodly</a:t>
            </a:r>
            <a:r>
              <a:rPr lang="en-GB" sz="1000" dirty="0">
                <a:solidFill>
                  <a:srgbClr val="CBC7DA"/>
                </a:solidFill>
              </a:rPr>
              <a:t>-custom-component skill. Scaffold with @</a:t>
            </a:r>
            <a:r>
              <a:rPr lang="en-GB" sz="1000" dirty="0" err="1">
                <a:solidFill>
                  <a:srgbClr val="CBC7DA"/>
                </a:solidFill>
              </a:rPr>
              <a:t>qodly</a:t>
            </a:r>
            <a:r>
              <a:rPr lang="en-GB" sz="1000" dirty="0">
                <a:solidFill>
                  <a:srgbClr val="CBC7DA"/>
                </a:solidFill>
              </a:rPr>
              <a:t>/cli, then implement the component using the standard Build / Render / Config / Settings structure.</a:t>
            </a:r>
          </a:p>
          <a:p>
            <a:endParaRPr lang="en-GB" sz="1000" dirty="0"/>
          </a:p>
          <a:p>
            <a:r>
              <a:rPr lang="en-GB" sz="1000" dirty="0">
                <a:solidFill>
                  <a:srgbClr val="CBC7DA"/>
                </a:solidFill>
              </a:rPr>
              <a:t>Create a circular Progress Gauge custom component for </a:t>
            </a:r>
            <a:r>
              <a:rPr lang="en-GB" sz="1000" dirty="0" err="1">
                <a:solidFill>
                  <a:srgbClr val="CBC7DA"/>
                </a:solidFill>
              </a:rPr>
              <a:t>Qodly</a:t>
            </a:r>
            <a:r>
              <a:rPr lang="en-GB" sz="1000" dirty="0">
                <a:solidFill>
                  <a:srgbClr val="CBC7DA"/>
                </a:solidFill>
              </a:rPr>
              <a:t>. The component must follow a three-part contract: Props, Events, and </a:t>
            </a:r>
            <a:r>
              <a:rPr lang="en-GB" sz="1000" dirty="0" err="1">
                <a:solidFill>
                  <a:srgbClr val="CBC7DA"/>
                </a:solidFill>
              </a:rPr>
              <a:t>Behavior</a:t>
            </a:r>
            <a:r>
              <a:rPr lang="en-GB" sz="1000" dirty="0">
                <a:solidFill>
                  <a:srgbClr val="CBC7DA"/>
                </a:solidFill>
              </a:rPr>
              <a:t>.</a:t>
            </a:r>
          </a:p>
          <a:p>
            <a:endParaRPr lang="en-GB" sz="1000" dirty="0"/>
          </a:p>
          <a:p>
            <a:r>
              <a:rPr lang="en-GB" sz="1000" b="1" dirty="0">
                <a:solidFill>
                  <a:srgbClr val="A99BE8"/>
                </a:solidFill>
              </a:rPr>
              <a:t>Props define what flows into the component:</a:t>
            </a:r>
          </a:p>
          <a:p>
            <a:pPr marL="628650" lvl="1" indent="-171450">
              <a:buFont typeface="Arial" panose="020B0604020202020204" pitchFamily="34" charset="0"/>
              <a:buChar char="•"/>
            </a:pPr>
            <a:r>
              <a:rPr lang="en-GB" sz="1000" dirty="0">
                <a:solidFill>
                  <a:srgbClr val="CBC7DA"/>
                </a:solidFill>
              </a:rPr>
              <a:t>value: number between 0 and 100, typically bound to a </a:t>
            </a:r>
            <a:r>
              <a:rPr lang="en-GB" sz="1000" dirty="0" err="1">
                <a:solidFill>
                  <a:srgbClr val="CBC7DA"/>
                </a:solidFill>
              </a:rPr>
              <a:t>Qodly</a:t>
            </a:r>
            <a:r>
              <a:rPr lang="en-GB" sz="1000" dirty="0">
                <a:solidFill>
                  <a:srgbClr val="CBC7DA"/>
                </a:solidFill>
              </a:rPr>
              <a:t> </a:t>
            </a:r>
            <a:r>
              <a:rPr lang="en-GB" sz="1000" dirty="0" err="1">
                <a:solidFill>
                  <a:srgbClr val="CBC7DA"/>
                </a:solidFill>
              </a:rPr>
              <a:t>datasource</a:t>
            </a:r>
            <a:r>
              <a:rPr lang="en-GB" sz="1000" dirty="0">
                <a:solidFill>
                  <a:srgbClr val="CBC7DA"/>
                </a:solidFill>
              </a:rPr>
              <a:t> such as </a:t>
            </a:r>
            <a:r>
              <a:rPr lang="en-GB" sz="1000" dirty="0" err="1">
                <a:solidFill>
                  <a:srgbClr val="CBC7DA"/>
                </a:solidFill>
              </a:rPr>
              <a:t>Task.Percent</a:t>
            </a:r>
            <a:r>
              <a:rPr lang="en-GB" sz="1000" dirty="0">
                <a:solidFill>
                  <a:srgbClr val="CBC7DA"/>
                </a:solidFill>
              </a:rPr>
              <a:t>.</a:t>
            </a:r>
          </a:p>
          <a:p>
            <a:pPr marL="628650" lvl="1" indent="-171450">
              <a:buFont typeface="Arial" panose="020B0604020202020204" pitchFamily="34" charset="0"/>
              <a:buChar char="•"/>
            </a:pPr>
            <a:endParaRPr lang="en-GB" sz="1000" dirty="0"/>
          </a:p>
          <a:p>
            <a:r>
              <a:rPr lang="en-GB" sz="1000" b="1" dirty="0">
                <a:solidFill>
                  <a:srgbClr val="A99BE8"/>
                </a:solidFill>
              </a:rPr>
              <a:t>Events define what flows out:</a:t>
            </a:r>
          </a:p>
          <a:p>
            <a:pPr marL="628650" lvl="1" indent="-171450">
              <a:buFont typeface="Arial" panose="020B0604020202020204" pitchFamily="34" charset="0"/>
              <a:buChar char="•"/>
            </a:pPr>
            <a:r>
              <a:rPr lang="en-GB" sz="1000" dirty="0" err="1">
                <a:solidFill>
                  <a:srgbClr val="CBC7DA"/>
                </a:solidFill>
              </a:rPr>
              <a:t>onValueChange</a:t>
            </a:r>
            <a:r>
              <a:rPr lang="en-GB" sz="1000" dirty="0">
                <a:solidFill>
                  <a:srgbClr val="CBC7DA"/>
                </a:solidFill>
              </a:rPr>
              <a:t>: fired while the user drags or changes the gauge value, with { value: number }. Use it to update the bound entity or trigger </a:t>
            </a:r>
            <a:r>
              <a:rPr lang="en-GB" sz="1000" dirty="0" err="1">
                <a:solidFill>
                  <a:srgbClr val="CBC7DA"/>
                </a:solidFill>
              </a:rPr>
              <a:t>Qodly</a:t>
            </a:r>
            <a:r>
              <a:rPr lang="en-GB" sz="1000" dirty="0">
                <a:solidFill>
                  <a:srgbClr val="CBC7DA"/>
                </a:solidFill>
              </a:rPr>
              <a:t> and 4D actions.</a:t>
            </a:r>
          </a:p>
          <a:p>
            <a:pPr marL="628650" lvl="1" indent="-171450">
              <a:buFont typeface="Arial" panose="020B0604020202020204" pitchFamily="34" charset="0"/>
              <a:buChar char="•"/>
            </a:pPr>
            <a:endParaRPr lang="en-GB" sz="1000" dirty="0"/>
          </a:p>
          <a:p>
            <a:r>
              <a:rPr lang="en-GB" sz="1000" b="1" dirty="0" err="1">
                <a:solidFill>
                  <a:srgbClr val="A99BE8"/>
                </a:solidFill>
              </a:rPr>
              <a:t>Behavior</a:t>
            </a:r>
            <a:r>
              <a:rPr lang="en-GB" sz="1000" b="1" dirty="0">
                <a:solidFill>
                  <a:srgbClr val="A99BE8"/>
                </a:solidFill>
              </a:rPr>
              <a:t>:</a:t>
            </a:r>
          </a:p>
          <a:p>
            <a:r>
              <a:rPr lang="en-GB" sz="1000" dirty="0">
                <a:solidFill>
                  <a:srgbClr val="CBC7DA"/>
                </a:solidFill>
              </a:rPr>
              <a:t>Display the value as a circular progress ring with the percentage shown in the </a:t>
            </a:r>
            <a:r>
              <a:rPr lang="en-GB" sz="1000" dirty="0" err="1">
                <a:solidFill>
                  <a:srgbClr val="CBC7DA"/>
                </a:solidFill>
              </a:rPr>
              <a:t>center</a:t>
            </a:r>
            <a:r>
              <a:rPr lang="en-GB" sz="1000" dirty="0">
                <a:solidFill>
                  <a:srgbClr val="CBC7DA"/>
                </a:solidFill>
              </a:rPr>
              <a:t>. Allow the user to drag around the ring to change the value. Clamp all values between 0 and 100.</a:t>
            </a:r>
          </a:p>
          <a:p>
            <a:endParaRPr lang="en-GB" sz="1000" dirty="0"/>
          </a:p>
          <a:p>
            <a:r>
              <a:rPr lang="en-GB" sz="1000" dirty="0">
                <a:solidFill>
                  <a:srgbClr val="CBC7DA"/>
                </a:solidFill>
              </a:rPr>
              <a:t>Apply automatic </a:t>
            </a:r>
            <a:r>
              <a:rPr lang="en-GB" sz="1000" dirty="0" err="1">
                <a:solidFill>
                  <a:srgbClr val="CBC7DA"/>
                </a:solidFill>
              </a:rPr>
              <a:t>color</a:t>
            </a:r>
            <a:r>
              <a:rPr lang="en-GB" sz="1000" dirty="0">
                <a:solidFill>
                  <a:srgbClr val="CBC7DA"/>
                </a:solidFill>
              </a:rPr>
              <a:t> thresholds:</a:t>
            </a:r>
          </a:p>
          <a:p>
            <a:pPr marL="171450" indent="-171450">
              <a:buFont typeface="Arial" panose="020B0604020202020204" pitchFamily="34" charset="0"/>
              <a:buChar char="•"/>
            </a:pPr>
            <a:r>
              <a:rPr lang="en-GB" sz="1000" dirty="0">
                <a:solidFill>
                  <a:srgbClr val="CBC7DA"/>
                </a:solidFill>
              </a:rPr>
              <a:t>Red when the value is below 30</a:t>
            </a:r>
          </a:p>
          <a:p>
            <a:pPr marL="171450" indent="-171450">
              <a:buFont typeface="Arial" panose="020B0604020202020204" pitchFamily="34" charset="0"/>
              <a:buChar char="•"/>
            </a:pPr>
            <a:r>
              <a:rPr lang="en-GB" sz="1000" dirty="0">
                <a:solidFill>
                  <a:srgbClr val="CBC7DA"/>
                </a:solidFill>
              </a:rPr>
              <a:t>Orange when the value is between 30 and 69</a:t>
            </a:r>
          </a:p>
          <a:p>
            <a:pPr marL="171450" indent="-171450">
              <a:buFont typeface="Arial" panose="020B0604020202020204" pitchFamily="34" charset="0"/>
              <a:buChar char="•"/>
            </a:pPr>
            <a:r>
              <a:rPr lang="en-GB" sz="1000" dirty="0">
                <a:solidFill>
                  <a:srgbClr val="CBC7DA"/>
                </a:solidFill>
              </a:rPr>
              <a:t>Green when the value is 70 or above</a:t>
            </a:r>
          </a:p>
          <a:p>
            <a:endParaRPr lang="en-GB" sz="1000" dirty="0"/>
          </a:p>
          <a:p>
            <a:r>
              <a:rPr lang="en-GB" sz="1000" dirty="0">
                <a:solidFill>
                  <a:srgbClr val="CBC7DA"/>
                </a:solidFill>
              </a:rPr>
              <a:t>Synchronize external </a:t>
            </a:r>
            <a:r>
              <a:rPr lang="en-GB" sz="1000" dirty="0" err="1">
                <a:solidFill>
                  <a:srgbClr val="CBC7DA"/>
                </a:solidFill>
              </a:rPr>
              <a:t>datasource</a:t>
            </a:r>
            <a:r>
              <a:rPr lang="en-GB" sz="1000" dirty="0">
                <a:solidFill>
                  <a:srgbClr val="CBC7DA"/>
                </a:solidFill>
              </a:rPr>
              <a:t> updates, provide smooth visual transitions, and avoid unnecessary update loops.</a:t>
            </a:r>
          </a:p>
        </p:txBody>
      </p:sp>
    </p:spTree>
    <p:extLst>
      <p:ext uri="{BB962C8B-B14F-4D97-AF65-F5344CB8AC3E}">
        <p14:creationId xmlns:p14="http://schemas.microsoft.com/office/powerpoint/2010/main" val="3375777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marL="0" indent="0">
              <a:buNone/>
            </a:pPr>
            <a:r>
              <a:rPr lang="en-US" sz="1200" b="1" kern="0" spc="300" dirty="0">
                <a:solidFill>
                  <a:srgbClr val="6E56CF"/>
                </a:solidFill>
                <a:latin typeface="Calibri" pitchFamily="34" charset="0"/>
                <a:ea typeface="Calibri" pitchFamily="34" charset="-122"/>
                <a:cs typeface="Calibri" pitchFamily="34" charset="-120"/>
              </a:rPr>
              <a:t>LIVE DEMO 3 · TASKS MANAGER</a:t>
            </a:r>
            <a:endParaRPr lang="en-US" sz="1200" dirty="0"/>
          </a:p>
        </p:txBody>
      </p:sp>
      <p:sp>
        <p:nvSpPr>
          <p:cNvPr id="3" name="Text 1"/>
          <p:cNvSpPr/>
          <p:nvPr/>
        </p:nvSpPr>
        <p:spPr>
          <a:xfrm>
            <a:off x="548640" y="658368"/>
            <a:ext cx="8046720" cy="594360"/>
          </a:xfrm>
          <a:prstGeom prst="rect">
            <a:avLst/>
          </a:prstGeom>
          <a:noFill/>
          <a:ln/>
        </p:spPr>
        <p:txBody>
          <a:bodyPr wrap="square" lIns="0" tIns="0" rIns="0" bIns="0" rtlCol="0" anchor="ctr"/>
          <a:lstStyle/>
          <a:p>
            <a:pPr marL="0" indent="0">
              <a:buNone/>
            </a:pPr>
            <a:r>
              <a:rPr lang="en-US" sz="3000" b="1" dirty="0">
                <a:solidFill>
                  <a:srgbClr val="23202E"/>
                </a:solidFill>
                <a:latin typeface="Calibri" pitchFamily="34" charset="0"/>
                <a:ea typeface="Calibri" pitchFamily="34" charset="-122"/>
                <a:cs typeface="Calibri" pitchFamily="34" charset="-120"/>
              </a:rPr>
              <a:t>Kanban Board</a:t>
            </a:r>
            <a:endParaRPr lang="en-US" sz="3000" dirty="0"/>
          </a:p>
        </p:txBody>
      </p:sp>
      <p:sp>
        <p:nvSpPr>
          <p:cNvPr id="4" name="Shape 2"/>
          <p:cNvSpPr/>
          <p:nvPr/>
        </p:nvSpPr>
        <p:spPr>
          <a:xfrm>
            <a:off x="7909560" y="457200"/>
            <a:ext cx="685800" cy="685800"/>
          </a:xfrm>
          <a:prstGeom prst="ellipse">
            <a:avLst/>
          </a:prstGeom>
          <a:solidFill>
            <a:srgbClr val="EFEBFA"/>
          </a:solidFill>
          <a:ln/>
        </p:spPr>
        <p:txBody>
          <a:bodyPr/>
          <a:lstStyle/>
          <a:p>
            <a:endParaRPr lang="en-FR"/>
          </a:p>
        </p:txBody>
      </p:sp>
      <p:pic>
        <p:nvPicPr>
          <p:cNvPr id="5" name="Image 0" descr="preencoded.png"/>
          <p:cNvPicPr>
            <a:picLocks noChangeAspect="1"/>
          </p:cNvPicPr>
          <p:nvPr/>
        </p:nvPicPr>
        <p:blipFill>
          <a:blip r:embed="rId3"/>
          <a:stretch>
            <a:fillRect/>
          </a:stretch>
        </p:blipFill>
        <p:spPr>
          <a:xfrm>
            <a:off x="8094726" y="642366"/>
            <a:ext cx="315468" cy="315468"/>
          </a:xfrm>
          <a:prstGeom prst="rect">
            <a:avLst/>
          </a:prstGeom>
        </p:spPr>
      </p:pic>
      <p:sp>
        <p:nvSpPr>
          <p:cNvPr id="6" name="Text 3"/>
          <p:cNvSpPr/>
          <p:nvPr/>
        </p:nvSpPr>
        <p:spPr>
          <a:xfrm>
            <a:off x="548640" y="1417320"/>
            <a:ext cx="8046720" cy="320040"/>
          </a:xfrm>
          <a:prstGeom prst="rect">
            <a:avLst/>
          </a:prstGeom>
          <a:noFill/>
          <a:ln/>
        </p:spPr>
        <p:txBody>
          <a:bodyPr wrap="square" lIns="0" tIns="0" rIns="0" bIns="0" rtlCol="0" anchor="ctr"/>
          <a:lstStyle/>
          <a:p>
            <a:pPr marL="0" indent="0">
              <a:buNone/>
            </a:pPr>
            <a:r>
              <a:rPr lang="en-US" sz="1400" i="1" dirty="0">
                <a:solidFill>
                  <a:srgbClr val="6F6B7D"/>
                </a:solidFill>
                <a:latin typeface="Calibri" pitchFamily="34" charset="0"/>
                <a:ea typeface="Calibri" pitchFamily="34" charset="-122"/>
                <a:cs typeface="Calibri" pitchFamily="34" charset="-120"/>
              </a:rPr>
              <a:t>A whole interaction paradigm the desktop list view never had</a:t>
            </a:r>
            <a:endParaRPr lang="en-US" sz="1400" dirty="0"/>
          </a:p>
        </p:txBody>
      </p:sp>
      <p:sp>
        <p:nvSpPr>
          <p:cNvPr id="7" name="Shape 4"/>
          <p:cNvSpPr/>
          <p:nvPr/>
        </p:nvSpPr>
        <p:spPr>
          <a:xfrm>
            <a:off x="548640" y="1965960"/>
            <a:ext cx="8046720" cy="749808"/>
          </a:xfrm>
          <a:prstGeom prst="roundRect">
            <a:avLst>
              <a:gd name="adj" fmla="val 8537"/>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8" name="Text 5"/>
          <p:cNvSpPr/>
          <p:nvPr/>
        </p:nvSpPr>
        <p:spPr>
          <a:xfrm>
            <a:off x="868680" y="1965960"/>
            <a:ext cx="1463040" cy="749808"/>
          </a:xfrm>
          <a:prstGeom prst="rect">
            <a:avLst/>
          </a:prstGeom>
          <a:noFill/>
          <a:ln/>
        </p:spPr>
        <p:txBody>
          <a:bodyPr wrap="square" lIns="0" tIns="0" rIns="0" bIns="0" rtlCol="0" anchor="ctr"/>
          <a:lstStyle/>
          <a:p>
            <a:pPr marL="0" indent="0">
              <a:buNone/>
            </a:pPr>
            <a:r>
              <a:rPr lang="en-US" sz="1200" b="1" kern="0" spc="200" dirty="0">
                <a:solidFill>
                  <a:srgbClr val="6E56CF"/>
                </a:solidFill>
                <a:latin typeface="Calibri" pitchFamily="34" charset="0"/>
                <a:ea typeface="Calibri" pitchFamily="34" charset="-122"/>
                <a:cs typeface="Calibri" pitchFamily="34" charset="-120"/>
              </a:rPr>
              <a:t>PROPS</a:t>
            </a:r>
            <a:endParaRPr lang="en-US" sz="1200" dirty="0"/>
          </a:p>
        </p:txBody>
      </p:sp>
      <p:sp>
        <p:nvSpPr>
          <p:cNvPr id="9" name="Text 6"/>
          <p:cNvSpPr/>
          <p:nvPr/>
        </p:nvSpPr>
        <p:spPr>
          <a:xfrm>
            <a:off x="2468880" y="1965960"/>
            <a:ext cx="5760720" cy="749808"/>
          </a:xfrm>
          <a:prstGeom prst="rect">
            <a:avLst/>
          </a:prstGeom>
          <a:noFill/>
          <a:ln/>
        </p:spPr>
        <p:txBody>
          <a:bodyPr wrap="square" lIns="0" tIns="0" rIns="0" bIns="0" rtlCol="0" anchor="ctr"/>
          <a:lstStyle/>
          <a:p>
            <a:pPr marL="0" indent="0">
              <a:lnSpc>
                <a:spcPts val="1700"/>
              </a:lnSpc>
              <a:buNone/>
            </a:pPr>
            <a:r>
              <a:rPr lang="en-US" sz="1300" dirty="0">
                <a:solidFill>
                  <a:srgbClr val="23202E"/>
                </a:solidFill>
                <a:latin typeface="Calibri" pitchFamily="34" charset="0"/>
                <a:ea typeface="Calibri" pitchFamily="34" charset="-122"/>
                <a:cs typeface="Calibri" pitchFamily="34" charset="-120"/>
              </a:rPr>
              <a:t>tasks : collection — the Task dataclass, grouped by Status</a:t>
            </a:r>
            <a:endParaRPr lang="en-US" sz="1300" dirty="0"/>
          </a:p>
        </p:txBody>
      </p:sp>
      <p:sp>
        <p:nvSpPr>
          <p:cNvPr id="10" name="Shape 7"/>
          <p:cNvSpPr/>
          <p:nvPr/>
        </p:nvSpPr>
        <p:spPr>
          <a:xfrm>
            <a:off x="548640" y="2916936"/>
            <a:ext cx="8046720" cy="749808"/>
          </a:xfrm>
          <a:prstGeom prst="roundRect">
            <a:avLst>
              <a:gd name="adj" fmla="val 8537"/>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11" name="Text 8"/>
          <p:cNvSpPr/>
          <p:nvPr/>
        </p:nvSpPr>
        <p:spPr>
          <a:xfrm>
            <a:off x="868680" y="2916936"/>
            <a:ext cx="1463040" cy="749808"/>
          </a:xfrm>
          <a:prstGeom prst="rect">
            <a:avLst/>
          </a:prstGeom>
          <a:noFill/>
          <a:ln/>
        </p:spPr>
        <p:txBody>
          <a:bodyPr wrap="square" lIns="0" tIns="0" rIns="0" bIns="0" rtlCol="0" anchor="ctr"/>
          <a:lstStyle/>
          <a:p>
            <a:pPr marL="0" indent="0">
              <a:buNone/>
            </a:pPr>
            <a:r>
              <a:rPr lang="en-US" sz="1200" b="1" kern="0" spc="200" dirty="0">
                <a:solidFill>
                  <a:srgbClr val="6E56CF"/>
                </a:solidFill>
                <a:latin typeface="Calibri" pitchFamily="34" charset="0"/>
                <a:ea typeface="Calibri" pitchFamily="34" charset="-122"/>
                <a:cs typeface="Calibri" pitchFamily="34" charset="-120"/>
              </a:rPr>
              <a:t>EVENTS</a:t>
            </a:r>
            <a:endParaRPr lang="en-US" sz="1200" dirty="0"/>
          </a:p>
        </p:txBody>
      </p:sp>
      <p:sp>
        <p:nvSpPr>
          <p:cNvPr id="12" name="Text 9"/>
          <p:cNvSpPr/>
          <p:nvPr/>
        </p:nvSpPr>
        <p:spPr>
          <a:xfrm>
            <a:off x="2468880" y="2916936"/>
            <a:ext cx="5760720" cy="749808"/>
          </a:xfrm>
          <a:prstGeom prst="rect">
            <a:avLst/>
          </a:prstGeom>
          <a:noFill/>
          <a:ln/>
        </p:spPr>
        <p:txBody>
          <a:bodyPr wrap="square" lIns="0" tIns="0" rIns="0" bIns="0" rtlCol="0" anchor="ctr"/>
          <a:lstStyle/>
          <a:p>
            <a:pPr marL="0" indent="0">
              <a:lnSpc>
                <a:spcPts val="1700"/>
              </a:lnSpc>
              <a:buNone/>
            </a:pPr>
            <a:r>
              <a:rPr lang="en-US" sz="1300" dirty="0">
                <a:solidFill>
                  <a:srgbClr val="23202E"/>
                </a:solidFill>
                <a:latin typeface="Calibri" pitchFamily="34" charset="0"/>
                <a:ea typeface="Calibri" pitchFamily="34" charset="-122"/>
                <a:cs typeface="Calibri" pitchFamily="34" charset="-120"/>
              </a:rPr>
              <a:t>onCardMove(taskID, newStatus) — persisted server-side in one function</a:t>
            </a:r>
            <a:endParaRPr lang="en-US" sz="1300" dirty="0"/>
          </a:p>
        </p:txBody>
      </p:sp>
      <p:sp>
        <p:nvSpPr>
          <p:cNvPr id="13" name="Shape 10"/>
          <p:cNvSpPr/>
          <p:nvPr/>
        </p:nvSpPr>
        <p:spPr>
          <a:xfrm>
            <a:off x="548640" y="3867912"/>
            <a:ext cx="8046720" cy="749808"/>
          </a:xfrm>
          <a:prstGeom prst="roundRect">
            <a:avLst>
              <a:gd name="adj" fmla="val 8537"/>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14" name="Text 11"/>
          <p:cNvSpPr/>
          <p:nvPr/>
        </p:nvSpPr>
        <p:spPr>
          <a:xfrm>
            <a:off x="868680" y="3867912"/>
            <a:ext cx="1463040" cy="749808"/>
          </a:xfrm>
          <a:prstGeom prst="rect">
            <a:avLst/>
          </a:prstGeom>
          <a:noFill/>
          <a:ln/>
        </p:spPr>
        <p:txBody>
          <a:bodyPr wrap="square" lIns="0" tIns="0" rIns="0" bIns="0" rtlCol="0" anchor="ctr"/>
          <a:lstStyle/>
          <a:p>
            <a:pPr marL="0" indent="0">
              <a:buNone/>
            </a:pPr>
            <a:r>
              <a:rPr lang="en-US" sz="1200" b="1" kern="0" spc="200" dirty="0">
                <a:solidFill>
                  <a:srgbClr val="6E56CF"/>
                </a:solidFill>
                <a:latin typeface="Calibri" pitchFamily="34" charset="0"/>
                <a:ea typeface="Calibri" pitchFamily="34" charset="-122"/>
                <a:cs typeface="Calibri" pitchFamily="34" charset="-120"/>
              </a:rPr>
              <a:t>BEHAVIOR</a:t>
            </a:r>
            <a:endParaRPr lang="en-US" sz="1200" dirty="0"/>
          </a:p>
        </p:txBody>
      </p:sp>
      <p:sp>
        <p:nvSpPr>
          <p:cNvPr id="15" name="Text 12"/>
          <p:cNvSpPr/>
          <p:nvPr/>
        </p:nvSpPr>
        <p:spPr>
          <a:xfrm>
            <a:off x="2468880" y="3867912"/>
            <a:ext cx="5760720" cy="749808"/>
          </a:xfrm>
          <a:prstGeom prst="rect">
            <a:avLst/>
          </a:prstGeom>
          <a:noFill/>
          <a:ln/>
        </p:spPr>
        <p:txBody>
          <a:bodyPr wrap="square" lIns="0" tIns="0" rIns="0" bIns="0" rtlCol="0" anchor="ctr"/>
          <a:lstStyle/>
          <a:p>
            <a:pPr marL="0" indent="0">
              <a:lnSpc>
                <a:spcPts val="1700"/>
              </a:lnSpc>
              <a:buNone/>
            </a:pPr>
            <a:r>
              <a:rPr lang="en-US" sz="1300" dirty="0">
                <a:solidFill>
                  <a:srgbClr val="23202E"/>
                </a:solidFill>
                <a:latin typeface="Calibri" pitchFamily="34" charset="0"/>
                <a:ea typeface="Calibri" pitchFamily="34" charset="-122"/>
                <a:cs typeface="Calibri" pitchFamily="34" charset="-120"/>
              </a:rPr>
              <a:t>Drag &amp; drop between columns; category color chips; due-date badges</a:t>
            </a:r>
            <a:endParaRPr lang="en-US" sz="1300" dirty="0"/>
          </a:p>
        </p:txBody>
      </p:sp>
      <p:sp>
        <p:nvSpPr>
          <p:cNvPr id="16" name="Text 13"/>
          <p:cNvSpPr/>
          <p:nvPr/>
        </p:nvSpPr>
        <p:spPr>
          <a:xfrm>
            <a:off x="548640" y="4754880"/>
            <a:ext cx="8046720" cy="274320"/>
          </a:xfrm>
          <a:prstGeom prst="rect">
            <a:avLst/>
          </a:prstGeom>
          <a:noFill/>
          <a:ln/>
        </p:spPr>
        <p:txBody>
          <a:bodyPr wrap="square" lIns="0" tIns="0" rIns="0" bIns="0" rtlCol="0" anchor="ctr"/>
          <a:lstStyle/>
          <a:p>
            <a:pPr marL="0" indent="0" algn="ctr">
              <a:buNone/>
            </a:pPr>
            <a:r>
              <a:rPr lang="en-US" sz="1200" dirty="0">
                <a:solidFill>
                  <a:srgbClr val="6F6B7D"/>
                </a:solidFill>
                <a:latin typeface="Calibri" pitchFamily="34" charset="0"/>
                <a:ea typeface="Calibri" pitchFamily="34" charset="-122"/>
                <a:cs typeface="Calibri" pitchFamily="34" charset="-120"/>
              </a:rPr>
              <a:t>One prompt. One component. Bound to ORDA in minutes.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D600688-6365-BA61-8334-075CF268DEE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B647055-8007-08E3-EE38-2D73DBEB5F0B}"/>
              </a:ext>
            </a:extLst>
          </p:cNvPr>
          <p:cNvSpPr/>
          <p:nvPr/>
        </p:nvSpPr>
        <p:spPr>
          <a:xfrm>
            <a:off x="548640" y="384048"/>
            <a:ext cx="8046720" cy="274320"/>
          </a:xfrm>
          <a:prstGeom prst="rect">
            <a:avLst/>
          </a:prstGeom>
          <a:noFill/>
          <a:ln/>
        </p:spPr>
        <p:txBody>
          <a:bodyPr wrap="square" lIns="0" tIns="0" rIns="0" bIns="0" rtlCol="0" anchor="ctr"/>
          <a:lstStyle/>
          <a:p>
            <a:pPr marL="0" indent="0">
              <a:buNone/>
            </a:pPr>
            <a:r>
              <a:rPr lang="en-US" sz="1200" b="1" kern="0" spc="300" dirty="0">
                <a:solidFill>
                  <a:srgbClr val="6E56CF"/>
                </a:solidFill>
                <a:latin typeface="Calibri" pitchFamily="34" charset="0"/>
                <a:ea typeface="Calibri" pitchFamily="34" charset="-122"/>
                <a:cs typeface="Calibri" pitchFamily="34" charset="-120"/>
              </a:rPr>
              <a:t>LIVE DEMO 3 · TASKS MANAGER</a:t>
            </a:r>
            <a:endParaRPr lang="en-US" sz="1200" dirty="0"/>
          </a:p>
        </p:txBody>
      </p:sp>
      <p:sp>
        <p:nvSpPr>
          <p:cNvPr id="3" name="Text 1">
            <a:extLst>
              <a:ext uri="{FF2B5EF4-FFF2-40B4-BE49-F238E27FC236}">
                <a16:creationId xmlns:a16="http://schemas.microsoft.com/office/drawing/2014/main" id="{8790FF83-166F-7565-097C-761AAF1D7DE5}"/>
              </a:ext>
            </a:extLst>
          </p:cNvPr>
          <p:cNvSpPr/>
          <p:nvPr/>
        </p:nvSpPr>
        <p:spPr>
          <a:xfrm>
            <a:off x="548640" y="658368"/>
            <a:ext cx="8046720" cy="594360"/>
          </a:xfrm>
          <a:prstGeom prst="rect">
            <a:avLst/>
          </a:prstGeom>
          <a:noFill/>
          <a:ln/>
        </p:spPr>
        <p:txBody>
          <a:bodyPr wrap="square" lIns="0" tIns="0" rIns="0" bIns="0" rtlCol="0" anchor="ctr"/>
          <a:lstStyle/>
          <a:p>
            <a:pPr marL="0" indent="0">
              <a:buNone/>
            </a:pPr>
            <a:r>
              <a:rPr lang="en-US" sz="3000" b="1" dirty="0">
                <a:solidFill>
                  <a:srgbClr val="23202E"/>
                </a:solidFill>
                <a:latin typeface="Calibri" pitchFamily="34" charset="0"/>
                <a:ea typeface="Calibri" pitchFamily="34" charset="-122"/>
                <a:cs typeface="Calibri" pitchFamily="34" charset="-120"/>
              </a:rPr>
              <a:t>Kanban Board</a:t>
            </a:r>
            <a:endParaRPr lang="en-US" sz="3000" dirty="0"/>
          </a:p>
        </p:txBody>
      </p:sp>
      <p:sp>
        <p:nvSpPr>
          <p:cNvPr id="4" name="Shape 2">
            <a:extLst>
              <a:ext uri="{FF2B5EF4-FFF2-40B4-BE49-F238E27FC236}">
                <a16:creationId xmlns:a16="http://schemas.microsoft.com/office/drawing/2014/main" id="{36728446-F52C-E78A-2424-D5297E2CB64B}"/>
              </a:ext>
            </a:extLst>
          </p:cNvPr>
          <p:cNvSpPr/>
          <p:nvPr/>
        </p:nvSpPr>
        <p:spPr>
          <a:xfrm>
            <a:off x="7909560" y="457200"/>
            <a:ext cx="685800" cy="685800"/>
          </a:xfrm>
          <a:prstGeom prst="ellipse">
            <a:avLst/>
          </a:prstGeom>
          <a:solidFill>
            <a:srgbClr val="EFEBFA"/>
          </a:solidFill>
          <a:ln/>
        </p:spPr>
        <p:txBody>
          <a:bodyPr/>
          <a:lstStyle/>
          <a:p>
            <a:endParaRPr lang="en-FR"/>
          </a:p>
        </p:txBody>
      </p:sp>
      <p:pic>
        <p:nvPicPr>
          <p:cNvPr id="5" name="Image 0" descr="preencoded.png">
            <a:extLst>
              <a:ext uri="{FF2B5EF4-FFF2-40B4-BE49-F238E27FC236}">
                <a16:creationId xmlns:a16="http://schemas.microsoft.com/office/drawing/2014/main" id="{6D05D01C-6848-9CF9-F491-5708F77DD3A9}"/>
              </a:ext>
            </a:extLst>
          </p:cNvPr>
          <p:cNvPicPr>
            <a:picLocks noChangeAspect="1"/>
          </p:cNvPicPr>
          <p:nvPr/>
        </p:nvPicPr>
        <p:blipFill>
          <a:blip r:embed="rId3"/>
          <a:stretch>
            <a:fillRect/>
          </a:stretch>
        </p:blipFill>
        <p:spPr>
          <a:xfrm>
            <a:off x="8094726" y="642366"/>
            <a:ext cx="315468" cy="315468"/>
          </a:xfrm>
          <a:prstGeom prst="rect">
            <a:avLst/>
          </a:prstGeom>
        </p:spPr>
      </p:pic>
      <p:sp>
        <p:nvSpPr>
          <p:cNvPr id="7" name="Shape 4">
            <a:extLst>
              <a:ext uri="{FF2B5EF4-FFF2-40B4-BE49-F238E27FC236}">
                <a16:creationId xmlns:a16="http://schemas.microsoft.com/office/drawing/2014/main" id="{8C89D391-4BAF-E97D-6EAA-4F0C30F3A8B1}"/>
              </a:ext>
            </a:extLst>
          </p:cNvPr>
          <p:cNvSpPr/>
          <p:nvPr/>
        </p:nvSpPr>
        <p:spPr>
          <a:xfrm>
            <a:off x="548640" y="1268730"/>
            <a:ext cx="8046720" cy="3760470"/>
          </a:xfrm>
          <a:prstGeom prst="roundRect">
            <a:avLst>
              <a:gd name="adj" fmla="val 8537"/>
            </a:avLst>
          </a:prstGeom>
          <a:solidFill>
            <a:srgbClr val="191233"/>
          </a:solidFill>
          <a:ln w="12700">
            <a:solidFill>
              <a:srgbClr val="34294F"/>
            </a:solidFill>
            <a:prstDash val="solid"/>
          </a:ln>
          <a:effectLst>
            <a:outerShdw blurRad="101600" dist="25400" dir="5400000" algn="bl" rotWithShape="0">
              <a:srgbClr val="191233">
                <a:alpha val="10000"/>
              </a:srgbClr>
            </a:outerShdw>
          </a:effectLst>
        </p:spPr>
        <p:txBody>
          <a:bodyPr/>
          <a:lstStyle/>
          <a:p>
            <a:endParaRPr lang="en-FR"/>
          </a:p>
        </p:txBody>
      </p:sp>
      <p:sp>
        <p:nvSpPr>
          <p:cNvPr id="8" name="Text 5">
            <a:extLst>
              <a:ext uri="{FF2B5EF4-FFF2-40B4-BE49-F238E27FC236}">
                <a16:creationId xmlns:a16="http://schemas.microsoft.com/office/drawing/2014/main" id="{277AB7CC-74FE-3BAF-2B1C-E0575FA05CB0}"/>
              </a:ext>
            </a:extLst>
          </p:cNvPr>
          <p:cNvSpPr/>
          <p:nvPr/>
        </p:nvSpPr>
        <p:spPr>
          <a:xfrm>
            <a:off x="914400" y="1544287"/>
            <a:ext cx="1463040" cy="749808"/>
          </a:xfrm>
          <a:prstGeom prst="rect">
            <a:avLst/>
          </a:prstGeom>
          <a:noFill/>
          <a:ln/>
        </p:spPr>
        <p:txBody>
          <a:bodyPr wrap="square" lIns="0" tIns="0" rIns="0" bIns="0" rtlCol="0" anchor="ctr"/>
          <a:lstStyle/>
          <a:p>
            <a:pPr marL="0" indent="0">
              <a:buNone/>
            </a:pPr>
            <a:r>
              <a:rPr lang="en-US" sz="1200" b="1" kern="0" spc="200" dirty="0">
                <a:solidFill>
                  <a:srgbClr val="A99BE8"/>
                </a:solidFill>
                <a:latin typeface="Calibri" pitchFamily="34" charset="0"/>
                <a:ea typeface="Calibri" pitchFamily="34" charset="-122"/>
                <a:cs typeface="Calibri" pitchFamily="34" charset="-120"/>
              </a:rPr>
              <a:t>PROMPT</a:t>
            </a:r>
            <a:endParaRPr lang="en-US" sz="1200" dirty="0"/>
          </a:p>
        </p:txBody>
      </p:sp>
      <p:sp>
        <p:nvSpPr>
          <p:cNvPr id="9" name="Text 6">
            <a:extLst>
              <a:ext uri="{FF2B5EF4-FFF2-40B4-BE49-F238E27FC236}">
                <a16:creationId xmlns:a16="http://schemas.microsoft.com/office/drawing/2014/main" id="{9D93C261-EFF7-410F-E6F3-34D85E169B4D}"/>
              </a:ext>
            </a:extLst>
          </p:cNvPr>
          <p:cNvSpPr/>
          <p:nvPr/>
        </p:nvSpPr>
        <p:spPr>
          <a:xfrm>
            <a:off x="2468880" y="1268729"/>
            <a:ext cx="5760720" cy="3760469"/>
          </a:xfrm>
          <a:prstGeom prst="rect">
            <a:avLst/>
          </a:prstGeom>
          <a:noFill/>
          <a:ln/>
        </p:spPr>
        <p:txBody>
          <a:bodyPr wrap="square" lIns="0" tIns="0" rIns="0" bIns="0" rtlCol="0" anchor="ctr"/>
          <a:lstStyle/>
          <a:p>
            <a:r>
              <a:rPr lang="en-GB" sz="1000" dirty="0">
                <a:solidFill>
                  <a:srgbClr val="CBC7DA"/>
                </a:solidFill>
              </a:rPr>
              <a:t>Use the </a:t>
            </a:r>
            <a:r>
              <a:rPr lang="en-GB" sz="1000" dirty="0" err="1">
                <a:solidFill>
                  <a:srgbClr val="CBC7DA"/>
                </a:solidFill>
              </a:rPr>
              <a:t>qodly</a:t>
            </a:r>
            <a:r>
              <a:rPr lang="en-GB" sz="1000" dirty="0">
                <a:solidFill>
                  <a:srgbClr val="CBC7DA"/>
                </a:solidFill>
              </a:rPr>
              <a:t>-custom-component skill. Scaffold with @</a:t>
            </a:r>
            <a:r>
              <a:rPr lang="en-GB" sz="1000" dirty="0" err="1">
                <a:solidFill>
                  <a:srgbClr val="CBC7DA"/>
                </a:solidFill>
              </a:rPr>
              <a:t>qodly</a:t>
            </a:r>
            <a:r>
              <a:rPr lang="en-GB" sz="1000" dirty="0">
                <a:solidFill>
                  <a:srgbClr val="CBC7DA"/>
                </a:solidFill>
              </a:rPr>
              <a:t>/cli, then implement the component using the standard Build / Render / Config / Settings structure.</a:t>
            </a:r>
          </a:p>
          <a:p>
            <a:endParaRPr lang="en-GB" sz="1000" dirty="0"/>
          </a:p>
          <a:p>
            <a:r>
              <a:rPr lang="en-GB" sz="1000" dirty="0">
                <a:solidFill>
                  <a:srgbClr val="CBC7DA"/>
                </a:solidFill>
              </a:rPr>
              <a:t>Create a Kanban Board custom component for </a:t>
            </a:r>
            <a:r>
              <a:rPr lang="en-GB" sz="1000" dirty="0" err="1">
                <a:solidFill>
                  <a:srgbClr val="CBC7DA"/>
                </a:solidFill>
              </a:rPr>
              <a:t>Qodly</a:t>
            </a:r>
            <a:r>
              <a:rPr lang="en-GB" sz="1000" dirty="0">
                <a:solidFill>
                  <a:srgbClr val="CBC7DA"/>
                </a:solidFill>
              </a:rPr>
              <a:t>. The component must follow a three-part contract: Props, Events, and </a:t>
            </a:r>
            <a:r>
              <a:rPr lang="en-GB" sz="1000" dirty="0" err="1">
                <a:solidFill>
                  <a:srgbClr val="CBC7DA"/>
                </a:solidFill>
              </a:rPr>
              <a:t>Behavior</a:t>
            </a:r>
            <a:r>
              <a:rPr lang="en-GB" sz="1000" dirty="0">
                <a:solidFill>
                  <a:srgbClr val="CBC7DA"/>
                </a:solidFill>
              </a:rPr>
              <a:t>.</a:t>
            </a:r>
          </a:p>
          <a:p>
            <a:endParaRPr lang="en-GB" sz="1000" dirty="0"/>
          </a:p>
          <a:p>
            <a:r>
              <a:rPr lang="en-GB" sz="1000" b="1" dirty="0">
                <a:solidFill>
                  <a:srgbClr val="A99BE8"/>
                </a:solidFill>
              </a:rPr>
              <a:t>Props define what flows into the component:</a:t>
            </a:r>
          </a:p>
          <a:p>
            <a:pPr marL="628650" lvl="1" indent="-171450">
              <a:buFont typeface="Arial" panose="020B0604020202020204" pitchFamily="34" charset="0"/>
              <a:buChar char="•"/>
            </a:pPr>
            <a:r>
              <a:rPr lang="en-GB" sz="1000" dirty="0">
                <a:solidFill>
                  <a:srgbClr val="CBC7DA"/>
                </a:solidFill>
              </a:rPr>
              <a:t>tasks: a collection of Task entities grouped into columns by their Status value. Each task may contain an ID, title, status, category, and due date.</a:t>
            </a:r>
          </a:p>
          <a:p>
            <a:endParaRPr lang="en-GB" sz="1000" dirty="0"/>
          </a:p>
          <a:p>
            <a:r>
              <a:rPr lang="en-GB" sz="1000" b="1" dirty="0">
                <a:solidFill>
                  <a:srgbClr val="A99BE8"/>
                </a:solidFill>
              </a:rPr>
              <a:t>Events define what flows out:</a:t>
            </a:r>
          </a:p>
          <a:p>
            <a:pPr marL="628650" lvl="1" indent="-171450">
              <a:buFont typeface="Arial" panose="020B0604020202020204" pitchFamily="34" charset="0"/>
              <a:buChar char="•"/>
            </a:pPr>
            <a:r>
              <a:rPr lang="en-GB" sz="1000" dirty="0" err="1">
                <a:solidFill>
                  <a:srgbClr val="CBC7DA"/>
                </a:solidFill>
              </a:rPr>
              <a:t>onCardMove</a:t>
            </a:r>
            <a:r>
              <a:rPr lang="en-GB" sz="1000" dirty="0">
                <a:solidFill>
                  <a:srgbClr val="CBC7DA"/>
                </a:solidFill>
              </a:rPr>
              <a:t>: fired when a task is moved to another column, with { </a:t>
            </a:r>
            <a:r>
              <a:rPr lang="en-GB" sz="1000" dirty="0" err="1">
                <a:solidFill>
                  <a:srgbClr val="CBC7DA"/>
                </a:solidFill>
              </a:rPr>
              <a:t>taskID</a:t>
            </a:r>
            <a:r>
              <a:rPr lang="en-GB" sz="1000" dirty="0">
                <a:solidFill>
                  <a:srgbClr val="CBC7DA"/>
                </a:solidFill>
              </a:rPr>
              <a:t>, </a:t>
            </a:r>
            <a:r>
              <a:rPr lang="en-GB" sz="1000" dirty="0" err="1">
                <a:solidFill>
                  <a:srgbClr val="CBC7DA"/>
                </a:solidFill>
              </a:rPr>
              <a:t>newStatus</a:t>
            </a:r>
            <a:r>
              <a:rPr lang="en-GB" sz="1000" dirty="0">
                <a:solidFill>
                  <a:srgbClr val="CBC7DA"/>
                </a:solidFill>
              </a:rPr>
              <a:t> }. The event must allow the task status to be persisted server-side through a single </a:t>
            </a:r>
            <a:r>
              <a:rPr lang="en-GB" sz="1000" dirty="0" err="1">
                <a:solidFill>
                  <a:srgbClr val="CBC7DA"/>
                </a:solidFill>
              </a:rPr>
              <a:t>Qodly</a:t>
            </a:r>
            <a:r>
              <a:rPr lang="en-GB" sz="1000" dirty="0">
                <a:solidFill>
                  <a:srgbClr val="CBC7DA"/>
                </a:solidFill>
              </a:rPr>
              <a:t> or 4D function.</a:t>
            </a:r>
          </a:p>
          <a:p>
            <a:endParaRPr lang="en-GB" sz="1000" dirty="0"/>
          </a:p>
          <a:p>
            <a:r>
              <a:rPr lang="en-GB" sz="1000" b="1" dirty="0" err="1">
                <a:solidFill>
                  <a:srgbClr val="A99BE8"/>
                </a:solidFill>
              </a:rPr>
              <a:t>Behavior</a:t>
            </a:r>
            <a:r>
              <a:rPr lang="en-GB" sz="1000" b="1" dirty="0">
                <a:solidFill>
                  <a:srgbClr val="A99BE8"/>
                </a:solidFill>
              </a:rPr>
              <a:t>:</a:t>
            </a:r>
          </a:p>
          <a:p>
            <a:r>
              <a:rPr lang="en-GB" sz="1000" dirty="0">
                <a:solidFill>
                  <a:srgbClr val="CBC7DA"/>
                </a:solidFill>
              </a:rPr>
              <a:t>Display tasks as cards organized into status columns. Support drag and drop between columns, update the card position immediately, and emit </a:t>
            </a:r>
            <a:r>
              <a:rPr lang="en-GB" sz="1000" dirty="0" err="1">
                <a:solidFill>
                  <a:srgbClr val="CBC7DA"/>
                </a:solidFill>
              </a:rPr>
              <a:t>onCardMove</a:t>
            </a:r>
            <a:r>
              <a:rPr lang="en-GB" sz="1000" dirty="0">
                <a:solidFill>
                  <a:srgbClr val="CBC7DA"/>
                </a:solidFill>
              </a:rPr>
              <a:t> after a successful drop.</a:t>
            </a:r>
          </a:p>
          <a:p>
            <a:endParaRPr lang="en-GB" sz="1000" dirty="0"/>
          </a:p>
          <a:p>
            <a:r>
              <a:rPr lang="en-GB" sz="1000" dirty="0">
                <a:solidFill>
                  <a:srgbClr val="CBC7DA"/>
                </a:solidFill>
              </a:rPr>
              <a:t>Show category </a:t>
            </a:r>
            <a:r>
              <a:rPr lang="en-GB" sz="1000" dirty="0" err="1">
                <a:solidFill>
                  <a:srgbClr val="CBC7DA"/>
                </a:solidFill>
              </a:rPr>
              <a:t>color</a:t>
            </a:r>
            <a:r>
              <a:rPr lang="en-GB" sz="1000" dirty="0">
                <a:solidFill>
                  <a:srgbClr val="CBC7DA"/>
                </a:solidFill>
              </a:rPr>
              <a:t> chips on each card and due-date badges when a due date is available. Keep the board synchronized with external </a:t>
            </a:r>
            <a:r>
              <a:rPr lang="en-GB" sz="1000" dirty="0" err="1">
                <a:solidFill>
                  <a:srgbClr val="CBC7DA"/>
                </a:solidFill>
              </a:rPr>
              <a:t>datasource</a:t>
            </a:r>
            <a:r>
              <a:rPr lang="en-GB" sz="1000" dirty="0">
                <a:solidFill>
                  <a:srgbClr val="CBC7DA"/>
                </a:solidFill>
              </a:rPr>
              <a:t> updates and avoid duplicate updates or unnecessary rendering.</a:t>
            </a:r>
          </a:p>
          <a:p>
            <a:endParaRPr lang="en-GB" sz="1000" dirty="0"/>
          </a:p>
          <a:p>
            <a:r>
              <a:rPr lang="en-GB" sz="1000" b="1" dirty="0">
                <a:solidFill>
                  <a:srgbClr val="A99BE8"/>
                </a:solidFill>
              </a:rPr>
              <a:t>Data Example</a:t>
            </a:r>
          </a:p>
          <a:p>
            <a:r>
              <a:rPr lang="en-GB" sz="1000" b="1" dirty="0">
                <a:solidFill>
                  <a:srgbClr val="A99BE8"/>
                </a:solidFill>
              </a:rPr>
              <a:t>type Task = {</a:t>
            </a:r>
          </a:p>
          <a:p>
            <a:r>
              <a:rPr lang="en-GB" sz="1000" b="1" dirty="0">
                <a:solidFill>
                  <a:srgbClr val="A99BE8"/>
                </a:solidFill>
              </a:rPr>
              <a:t>  id: string; title: string; status: string; category?: string; </a:t>
            </a:r>
            <a:r>
              <a:rPr lang="en-GB" sz="1000" b="1" dirty="0" err="1">
                <a:solidFill>
                  <a:srgbClr val="A99BE8"/>
                </a:solidFill>
              </a:rPr>
              <a:t>categoryColor</a:t>
            </a:r>
            <a:r>
              <a:rPr lang="en-GB" sz="1000" b="1" dirty="0">
                <a:solidFill>
                  <a:srgbClr val="A99BE8"/>
                </a:solidFill>
              </a:rPr>
              <a:t>?: string; </a:t>
            </a:r>
            <a:r>
              <a:rPr lang="en-GB" sz="1000" b="1" dirty="0" err="1">
                <a:solidFill>
                  <a:srgbClr val="A99BE8"/>
                </a:solidFill>
              </a:rPr>
              <a:t>dueDate</a:t>
            </a:r>
            <a:r>
              <a:rPr lang="en-GB" sz="1000" b="1" dirty="0">
                <a:solidFill>
                  <a:srgbClr val="A99BE8"/>
                </a:solidFill>
              </a:rPr>
              <a:t>?: string; }</a:t>
            </a:r>
          </a:p>
        </p:txBody>
      </p:sp>
    </p:spTree>
    <p:extLst>
      <p:ext uri="{BB962C8B-B14F-4D97-AF65-F5344CB8AC3E}">
        <p14:creationId xmlns:p14="http://schemas.microsoft.com/office/powerpoint/2010/main" val="1161394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70AADE2-F24F-3DD1-3155-FC28D33005C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361545A-8419-6285-0804-7D5DAB694DC2}"/>
              </a:ext>
            </a:extLst>
          </p:cNvPr>
          <p:cNvSpPr/>
          <p:nvPr/>
        </p:nvSpPr>
        <p:spPr>
          <a:xfrm>
            <a:off x="548640" y="384048"/>
            <a:ext cx="8046720" cy="274320"/>
          </a:xfrm>
          <a:prstGeom prst="rect">
            <a:avLst/>
          </a:prstGeom>
          <a:noFill/>
          <a:ln/>
        </p:spPr>
        <p:txBody>
          <a:bodyPr wrap="square" lIns="0" tIns="0" rIns="0" bIns="0" rtlCol="0" anchor="ctr"/>
          <a:lstStyle/>
          <a:p>
            <a:pPr marL="0" indent="0">
              <a:buNone/>
            </a:pPr>
            <a:r>
              <a:rPr lang="en-US" sz="1200" b="1" kern="0" spc="300" dirty="0">
                <a:solidFill>
                  <a:srgbClr val="6E56CF"/>
                </a:solidFill>
                <a:latin typeface="Calibri" pitchFamily="34" charset="0"/>
                <a:ea typeface="Calibri" pitchFamily="34" charset="-122"/>
                <a:cs typeface="Calibri" pitchFamily="34" charset="-120"/>
              </a:rPr>
              <a:t>LIVE DEMO 3 · TASKS MANAGER</a:t>
            </a:r>
            <a:endParaRPr lang="en-US" sz="1200" dirty="0"/>
          </a:p>
        </p:txBody>
      </p:sp>
      <p:sp>
        <p:nvSpPr>
          <p:cNvPr id="3" name="Text 1">
            <a:extLst>
              <a:ext uri="{FF2B5EF4-FFF2-40B4-BE49-F238E27FC236}">
                <a16:creationId xmlns:a16="http://schemas.microsoft.com/office/drawing/2014/main" id="{3C1A3A75-BD93-FEC8-6412-D411E3FCF3E3}"/>
              </a:ext>
            </a:extLst>
          </p:cNvPr>
          <p:cNvSpPr/>
          <p:nvPr/>
        </p:nvSpPr>
        <p:spPr>
          <a:xfrm>
            <a:off x="548640" y="658368"/>
            <a:ext cx="8046720" cy="594360"/>
          </a:xfrm>
          <a:prstGeom prst="rect">
            <a:avLst/>
          </a:prstGeom>
          <a:noFill/>
          <a:ln/>
        </p:spPr>
        <p:txBody>
          <a:bodyPr wrap="square" lIns="0" tIns="0" rIns="0" bIns="0" rtlCol="0" anchor="ctr"/>
          <a:lstStyle/>
          <a:p>
            <a:pPr marL="0" indent="0">
              <a:buNone/>
            </a:pPr>
            <a:r>
              <a:rPr lang="en-US" sz="3000" b="1" dirty="0">
                <a:solidFill>
                  <a:srgbClr val="23202E"/>
                </a:solidFill>
                <a:latin typeface="Calibri" pitchFamily="34" charset="0"/>
                <a:ea typeface="Calibri" pitchFamily="34" charset="-122"/>
                <a:cs typeface="Calibri" pitchFamily="34" charset="-120"/>
              </a:rPr>
              <a:t>Kanban Board Integration</a:t>
            </a:r>
            <a:endParaRPr lang="en-US" sz="3000" dirty="0"/>
          </a:p>
        </p:txBody>
      </p:sp>
      <p:sp>
        <p:nvSpPr>
          <p:cNvPr id="4" name="Shape 2">
            <a:extLst>
              <a:ext uri="{FF2B5EF4-FFF2-40B4-BE49-F238E27FC236}">
                <a16:creationId xmlns:a16="http://schemas.microsoft.com/office/drawing/2014/main" id="{C5B01A4E-AB7F-664B-EACC-A181A31B6C18}"/>
              </a:ext>
            </a:extLst>
          </p:cNvPr>
          <p:cNvSpPr/>
          <p:nvPr/>
        </p:nvSpPr>
        <p:spPr>
          <a:xfrm>
            <a:off x="7909560" y="457200"/>
            <a:ext cx="685800" cy="685800"/>
          </a:xfrm>
          <a:prstGeom prst="ellipse">
            <a:avLst/>
          </a:prstGeom>
          <a:solidFill>
            <a:srgbClr val="EFEBFA"/>
          </a:solidFill>
          <a:ln/>
        </p:spPr>
        <p:txBody>
          <a:bodyPr/>
          <a:lstStyle/>
          <a:p>
            <a:endParaRPr lang="en-FR"/>
          </a:p>
        </p:txBody>
      </p:sp>
      <p:pic>
        <p:nvPicPr>
          <p:cNvPr id="5" name="Image 0" descr="preencoded.png">
            <a:extLst>
              <a:ext uri="{FF2B5EF4-FFF2-40B4-BE49-F238E27FC236}">
                <a16:creationId xmlns:a16="http://schemas.microsoft.com/office/drawing/2014/main" id="{8C221D71-7382-48BE-6C53-B5B831116D79}"/>
              </a:ext>
            </a:extLst>
          </p:cNvPr>
          <p:cNvPicPr>
            <a:picLocks noChangeAspect="1"/>
          </p:cNvPicPr>
          <p:nvPr/>
        </p:nvPicPr>
        <p:blipFill>
          <a:blip r:embed="rId3"/>
          <a:stretch>
            <a:fillRect/>
          </a:stretch>
        </p:blipFill>
        <p:spPr>
          <a:xfrm>
            <a:off x="8094726" y="642366"/>
            <a:ext cx="315468" cy="315468"/>
          </a:xfrm>
          <a:prstGeom prst="rect">
            <a:avLst/>
          </a:prstGeom>
        </p:spPr>
      </p:pic>
      <p:sp>
        <p:nvSpPr>
          <p:cNvPr id="7" name="Shape 4">
            <a:extLst>
              <a:ext uri="{FF2B5EF4-FFF2-40B4-BE49-F238E27FC236}">
                <a16:creationId xmlns:a16="http://schemas.microsoft.com/office/drawing/2014/main" id="{C7942ED1-9E87-7BB5-95C6-4F65453212B5}"/>
              </a:ext>
            </a:extLst>
          </p:cNvPr>
          <p:cNvSpPr/>
          <p:nvPr/>
        </p:nvSpPr>
        <p:spPr>
          <a:xfrm>
            <a:off x="548640" y="1268730"/>
            <a:ext cx="8046720" cy="2304649"/>
          </a:xfrm>
          <a:prstGeom prst="roundRect">
            <a:avLst>
              <a:gd name="adj" fmla="val 8537"/>
            </a:avLst>
          </a:prstGeom>
          <a:solidFill>
            <a:srgbClr val="191233"/>
          </a:solidFill>
          <a:ln w="12700">
            <a:solidFill>
              <a:srgbClr val="34294F"/>
            </a:solidFill>
            <a:prstDash val="solid"/>
          </a:ln>
          <a:effectLst>
            <a:outerShdw blurRad="101600" dist="25400" dir="5400000" algn="bl" rotWithShape="0">
              <a:srgbClr val="191233">
                <a:alpha val="10000"/>
              </a:srgbClr>
            </a:outerShdw>
          </a:effectLst>
        </p:spPr>
        <p:txBody>
          <a:bodyPr/>
          <a:lstStyle/>
          <a:p>
            <a:endParaRPr lang="en-FR"/>
          </a:p>
        </p:txBody>
      </p:sp>
      <p:sp>
        <p:nvSpPr>
          <p:cNvPr id="8" name="Text 5">
            <a:extLst>
              <a:ext uri="{FF2B5EF4-FFF2-40B4-BE49-F238E27FC236}">
                <a16:creationId xmlns:a16="http://schemas.microsoft.com/office/drawing/2014/main" id="{2A76944A-5D71-7806-7D3F-F0801C5BED73}"/>
              </a:ext>
            </a:extLst>
          </p:cNvPr>
          <p:cNvSpPr/>
          <p:nvPr/>
        </p:nvSpPr>
        <p:spPr>
          <a:xfrm>
            <a:off x="914400" y="1544287"/>
            <a:ext cx="1463040" cy="749808"/>
          </a:xfrm>
          <a:prstGeom prst="rect">
            <a:avLst/>
          </a:prstGeom>
          <a:noFill/>
          <a:ln/>
        </p:spPr>
        <p:txBody>
          <a:bodyPr wrap="square" lIns="0" tIns="0" rIns="0" bIns="0" rtlCol="0" anchor="ctr"/>
          <a:lstStyle/>
          <a:p>
            <a:pPr marL="0" indent="0">
              <a:buNone/>
            </a:pPr>
            <a:r>
              <a:rPr lang="en-US" sz="1200" b="1" kern="0" spc="200" dirty="0">
                <a:solidFill>
                  <a:srgbClr val="A99BE8"/>
                </a:solidFill>
                <a:latin typeface="Calibri" pitchFamily="34" charset="0"/>
                <a:ea typeface="Calibri" pitchFamily="34" charset="-122"/>
                <a:cs typeface="Calibri" pitchFamily="34" charset="-120"/>
              </a:rPr>
              <a:t>PROMPT</a:t>
            </a:r>
            <a:endParaRPr lang="en-US" sz="1200" dirty="0"/>
          </a:p>
        </p:txBody>
      </p:sp>
      <p:sp>
        <p:nvSpPr>
          <p:cNvPr id="9" name="Text 6">
            <a:extLst>
              <a:ext uri="{FF2B5EF4-FFF2-40B4-BE49-F238E27FC236}">
                <a16:creationId xmlns:a16="http://schemas.microsoft.com/office/drawing/2014/main" id="{3C90C589-E8D0-29A7-304B-D79A54647EBF}"/>
              </a:ext>
            </a:extLst>
          </p:cNvPr>
          <p:cNvSpPr/>
          <p:nvPr/>
        </p:nvSpPr>
        <p:spPr>
          <a:xfrm>
            <a:off x="2468880" y="1268730"/>
            <a:ext cx="5760720" cy="2142224"/>
          </a:xfrm>
          <a:prstGeom prst="rect">
            <a:avLst/>
          </a:prstGeom>
          <a:noFill/>
          <a:ln/>
        </p:spPr>
        <p:txBody>
          <a:bodyPr wrap="square" lIns="0" tIns="0" rIns="0" bIns="0" rtlCol="0" anchor="ctr"/>
          <a:lstStyle/>
          <a:p>
            <a:r>
              <a:rPr lang="en-GB" sz="1000" b="1" dirty="0">
                <a:solidFill>
                  <a:srgbClr val="A99BE8"/>
                </a:solidFill>
              </a:rPr>
              <a:t>Kanban Integration in 4D Forms</a:t>
            </a:r>
            <a:br>
              <a:rPr lang="en-GB" sz="1000" b="1" dirty="0"/>
            </a:br>
            <a:endParaRPr lang="en-GB" sz="1000" b="1" dirty="0"/>
          </a:p>
          <a:p>
            <a:r>
              <a:rPr lang="en-GB" sz="1000" dirty="0">
                <a:solidFill>
                  <a:srgbClr val="CBC7DA"/>
                </a:solidFill>
              </a:rPr>
              <a:t>In @Project/Sources/Forms/</a:t>
            </a:r>
            <a:r>
              <a:rPr lang="en-GB" sz="1000" dirty="0" err="1">
                <a:solidFill>
                  <a:srgbClr val="CBC7DA"/>
                </a:solidFill>
              </a:rPr>
              <a:t>taskManager</a:t>
            </a:r>
            <a:r>
              <a:rPr lang="en-GB" sz="1000" dirty="0">
                <a:solidFill>
                  <a:srgbClr val="CBC7DA"/>
                </a:solidFill>
              </a:rPr>
              <a:t>:</a:t>
            </a:r>
            <a:br>
              <a:rPr lang="en-GB" sz="1000" dirty="0"/>
            </a:br>
            <a:endParaRPr lang="en-GB" sz="1000" dirty="0"/>
          </a:p>
          <a:p>
            <a:pPr marL="628650" lvl="1" indent="-171450">
              <a:buFont typeface="Arial" panose="020B0604020202020204" pitchFamily="34" charset="0"/>
              <a:buChar char="•"/>
            </a:pPr>
            <a:r>
              <a:rPr lang="en-GB" sz="1000" dirty="0">
                <a:solidFill>
                  <a:srgbClr val="CBC7DA"/>
                </a:solidFill>
              </a:rPr>
              <a:t>Add a button to switch to </a:t>
            </a:r>
            <a:r>
              <a:rPr lang="en-GB" sz="1000" b="1" dirty="0">
                <a:solidFill>
                  <a:srgbClr val="A99BE8"/>
                </a:solidFill>
              </a:rPr>
              <a:t>Kanban Mode</a:t>
            </a:r>
            <a:r>
              <a:rPr lang="en-GB" sz="1000" dirty="0">
                <a:solidFill>
                  <a:srgbClr val="CBC7DA"/>
                </a:solidFill>
              </a:rPr>
              <a:t>.</a:t>
            </a:r>
          </a:p>
          <a:p>
            <a:pPr marL="628650" lvl="1" indent="-171450">
              <a:buFont typeface="Arial" panose="020B0604020202020204" pitchFamily="34" charset="0"/>
              <a:buChar char="•"/>
            </a:pPr>
            <a:r>
              <a:rPr lang="en-GB" sz="1000" dirty="0">
                <a:solidFill>
                  <a:srgbClr val="CBC7DA"/>
                </a:solidFill>
              </a:rPr>
              <a:t>Open a new Web Area and load the test page.</a:t>
            </a:r>
          </a:p>
          <a:p>
            <a:pPr marL="628650" lvl="1" indent="-171450">
              <a:buFont typeface="Arial" panose="020B0604020202020204" pitchFamily="34" charset="0"/>
              <a:buChar char="•"/>
            </a:pPr>
            <a:r>
              <a:rPr lang="en-GB" sz="1000" dirty="0">
                <a:solidFill>
                  <a:srgbClr val="CBC7DA"/>
                </a:solidFill>
              </a:rPr>
              <a:t>The test page already contains the Kanban component.</a:t>
            </a:r>
          </a:p>
          <a:p>
            <a:pPr marL="628650" lvl="1" indent="-171450">
              <a:buFont typeface="Arial" panose="020B0604020202020204" pitchFamily="34" charset="0"/>
              <a:buChar char="•"/>
            </a:pPr>
            <a:r>
              <a:rPr lang="en-GB" sz="1000" dirty="0">
                <a:solidFill>
                  <a:srgbClr val="CBC7DA"/>
                </a:solidFill>
              </a:rPr>
              <a:t>Keep the category list fixed, as in List and Detail modes.</a:t>
            </a:r>
          </a:p>
          <a:p>
            <a:pPr marL="628650" lvl="1" indent="-171450">
              <a:buFont typeface="Arial" panose="020B0604020202020204" pitchFamily="34" charset="0"/>
              <a:buChar char="•"/>
            </a:pPr>
            <a:r>
              <a:rPr lang="en-GB" sz="1000" dirty="0">
                <a:solidFill>
                  <a:srgbClr val="CBC7DA"/>
                </a:solidFill>
              </a:rPr>
              <a:t>Use a different Web Area name, since two separate Web Areas will be used.</a:t>
            </a:r>
          </a:p>
          <a:p>
            <a:pPr marL="628650" lvl="1" indent="-171450">
              <a:buFont typeface="Arial" panose="020B0604020202020204" pitchFamily="34" charset="0"/>
              <a:buChar char="•"/>
            </a:pPr>
            <a:r>
              <a:rPr lang="en-GB" sz="1000" dirty="0">
                <a:solidFill>
                  <a:srgbClr val="CBC7DA"/>
                </a:solidFill>
              </a:rPr>
              <a:t>Make sure the IDs are sent to the Kanban component.</a:t>
            </a:r>
          </a:p>
          <a:p>
            <a:pPr marL="628650" lvl="1" indent="-171450">
              <a:buFont typeface="Arial" panose="020B0604020202020204" pitchFamily="34" charset="0"/>
              <a:buChar char="•"/>
            </a:pPr>
            <a:r>
              <a:rPr lang="en-GB" sz="1000" dirty="0">
                <a:solidFill>
                  <a:srgbClr val="CBC7DA"/>
                </a:solidFill>
              </a:rPr>
              <a:t>When the selected category changes, filter the Kanban board accordingly.</a:t>
            </a:r>
          </a:p>
          <a:p>
            <a:pPr marL="628650" lvl="1" indent="-171450">
              <a:buFont typeface="Arial" panose="020B0604020202020204" pitchFamily="34" charset="0"/>
              <a:buChar char="•"/>
            </a:pPr>
            <a:r>
              <a:rPr lang="en-GB" sz="1000" dirty="0">
                <a:solidFill>
                  <a:srgbClr val="CBC7DA"/>
                </a:solidFill>
              </a:rPr>
              <a:t>Do not place the Web Area directly in the main form.</a:t>
            </a:r>
          </a:p>
          <a:p>
            <a:pPr marL="628650" lvl="1" indent="-171450">
              <a:buFont typeface="Arial" panose="020B0604020202020204" pitchFamily="34" charset="0"/>
              <a:buChar char="•"/>
            </a:pPr>
            <a:r>
              <a:rPr lang="en-GB" sz="1000" dirty="0">
                <a:solidFill>
                  <a:srgbClr val="CBC7DA"/>
                </a:solidFill>
              </a:rPr>
              <a:t>Load the Kanban interface only when the Kanban button is clicked, using a </a:t>
            </a:r>
            <a:r>
              <a:rPr lang="en-GB" sz="1000" dirty="0" err="1">
                <a:solidFill>
                  <a:srgbClr val="CBC7DA"/>
                </a:solidFill>
              </a:rPr>
              <a:t>subform</a:t>
            </a:r>
            <a:r>
              <a:rPr lang="en-GB" sz="1000" dirty="0">
                <a:solidFill>
                  <a:srgbClr val="CBC7DA"/>
                </a:solidFill>
              </a:rPr>
              <a:t> that loads </a:t>
            </a:r>
            <a:r>
              <a:rPr lang="en-GB" sz="1000" dirty="0" err="1">
                <a:solidFill>
                  <a:srgbClr val="CBC7DA"/>
                </a:solidFill>
              </a:rPr>
              <a:t>kanbanView</a:t>
            </a:r>
            <a:r>
              <a:rPr lang="en-GB" sz="1000" dirty="0">
                <a:solidFill>
                  <a:srgbClr val="CBC7DA"/>
                </a:solidFill>
              </a:rPr>
              <a:t> on demand.</a:t>
            </a:r>
          </a:p>
        </p:txBody>
      </p:sp>
    </p:spTree>
    <p:extLst>
      <p:ext uri="{BB962C8B-B14F-4D97-AF65-F5344CB8AC3E}">
        <p14:creationId xmlns:p14="http://schemas.microsoft.com/office/powerpoint/2010/main" val="2158412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marL="0" indent="0">
              <a:buNone/>
            </a:pPr>
            <a:r>
              <a:rPr lang="en-US" sz="1200" b="1" kern="0" spc="300" dirty="0">
                <a:solidFill>
                  <a:srgbClr val="6E56CF"/>
                </a:solidFill>
                <a:latin typeface="Calibri" pitchFamily="34" charset="0"/>
                <a:ea typeface="Calibri" pitchFamily="34" charset="-122"/>
                <a:cs typeface="Calibri" pitchFamily="34" charset="-120"/>
              </a:rPr>
              <a:t>PLAYGROUNDS 2</a:t>
            </a:r>
            <a:endParaRPr lang="en-US" sz="1200" dirty="0"/>
          </a:p>
        </p:txBody>
      </p:sp>
      <p:sp>
        <p:nvSpPr>
          <p:cNvPr id="3" name="Text 1"/>
          <p:cNvSpPr/>
          <p:nvPr/>
        </p:nvSpPr>
        <p:spPr>
          <a:xfrm>
            <a:off x="548640" y="658368"/>
            <a:ext cx="8046720" cy="594360"/>
          </a:xfrm>
          <a:prstGeom prst="rect">
            <a:avLst/>
          </a:prstGeom>
          <a:noFill/>
          <a:ln/>
        </p:spPr>
        <p:txBody>
          <a:bodyPr wrap="square" lIns="0" tIns="0" rIns="0" bIns="0" rtlCol="0" anchor="ctr"/>
          <a:lstStyle/>
          <a:p>
            <a:pPr marL="0" indent="0">
              <a:buNone/>
            </a:pPr>
            <a:r>
              <a:rPr lang="en-US" sz="3000" b="1" dirty="0">
                <a:solidFill>
                  <a:srgbClr val="23202E"/>
                </a:solidFill>
                <a:latin typeface="Calibri" pitchFamily="34" charset="0"/>
                <a:ea typeface="Calibri" pitchFamily="34" charset="-122"/>
                <a:cs typeface="Calibri" pitchFamily="34" charset="-120"/>
              </a:rPr>
              <a:t>Another classic from github.com/4d-depot</a:t>
            </a:r>
            <a:endParaRPr lang="en-US" sz="3000" dirty="0"/>
          </a:p>
        </p:txBody>
      </p:sp>
      <p:sp>
        <p:nvSpPr>
          <p:cNvPr id="4" name="Shape 2"/>
          <p:cNvSpPr/>
          <p:nvPr/>
        </p:nvSpPr>
        <p:spPr>
          <a:xfrm>
            <a:off x="548640" y="1645920"/>
            <a:ext cx="3886200" cy="2743200"/>
          </a:xfrm>
          <a:prstGeom prst="roundRect">
            <a:avLst>
              <a:gd name="adj" fmla="val 2333"/>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5" name="Shape 3"/>
          <p:cNvSpPr/>
          <p:nvPr/>
        </p:nvSpPr>
        <p:spPr>
          <a:xfrm>
            <a:off x="868680" y="1965960"/>
            <a:ext cx="566928" cy="566928"/>
          </a:xfrm>
          <a:prstGeom prst="ellipse">
            <a:avLst/>
          </a:prstGeom>
          <a:solidFill>
            <a:srgbClr val="EFEBFA"/>
          </a:solidFill>
          <a:ln/>
        </p:spPr>
        <p:txBody>
          <a:bodyPr/>
          <a:lstStyle/>
          <a:p>
            <a:endParaRPr lang="en-FR"/>
          </a:p>
        </p:txBody>
      </p:sp>
      <p:pic>
        <p:nvPicPr>
          <p:cNvPr id="6" name="Image 0" descr="preencoded.png"/>
          <p:cNvPicPr>
            <a:picLocks noChangeAspect="1"/>
          </p:cNvPicPr>
          <p:nvPr/>
        </p:nvPicPr>
        <p:blipFill>
          <a:blip r:embed="rId3"/>
          <a:stretch>
            <a:fillRect/>
          </a:stretch>
        </p:blipFill>
        <p:spPr>
          <a:xfrm>
            <a:off x="1021751" y="2119031"/>
            <a:ext cx="260787" cy="260787"/>
          </a:xfrm>
          <a:prstGeom prst="rect">
            <a:avLst/>
          </a:prstGeom>
        </p:spPr>
      </p:pic>
      <p:sp>
        <p:nvSpPr>
          <p:cNvPr id="7" name="Text 4"/>
          <p:cNvSpPr/>
          <p:nvPr/>
        </p:nvSpPr>
        <p:spPr>
          <a:xfrm>
            <a:off x="1600200" y="2029968"/>
            <a:ext cx="2743200" cy="457200"/>
          </a:xfrm>
          <a:prstGeom prst="rect">
            <a:avLst/>
          </a:prstGeom>
          <a:noFill/>
          <a:ln/>
        </p:spPr>
        <p:txBody>
          <a:bodyPr wrap="square" lIns="0" tIns="0" rIns="0" bIns="0" rtlCol="0" anchor="ctr"/>
          <a:lstStyle/>
          <a:p>
            <a:pPr marL="0" indent="0">
              <a:buNone/>
            </a:pPr>
            <a:r>
              <a:rPr lang="en-US" sz="1700" b="1" dirty="0">
                <a:solidFill>
                  <a:srgbClr val="23202E"/>
                </a:solidFill>
                <a:latin typeface="Calibri" pitchFamily="34" charset="0"/>
                <a:ea typeface="Calibri" pitchFamily="34" charset="-122"/>
                <a:cs typeface="Calibri" pitchFamily="34" charset="-120"/>
              </a:rPr>
              <a:t>EA_Contacts</a:t>
            </a:r>
            <a:endParaRPr lang="en-US" sz="1700" dirty="0"/>
          </a:p>
        </p:txBody>
      </p:sp>
      <p:sp>
        <p:nvSpPr>
          <p:cNvPr id="8" name="Text 5"/>
          <p:cNvSpPr/>
          <p:nvPr/>
        </p:nvSpPr>
        <p:spPr>
          <a:xfrm>
            <a:off x="914400" y="2697480"/>
            <a:ext cx="3200400" cy="1463040"/>
          </a:xfrm>
          <a:prstGeom prst="rect">
            <a:avLst/>
          </a:prstGeom>
          <a:noFill/>
          <a:ln/>
        </p:spPr>
        <p:txBody>
          <a:bodyPr wrap="square" lIns="0" tIns="0" rIns="0" bIns="0" rtlCol="0" anchor="ctr"/>
          <a:lstStyle/>
          <a:p>
            <a:pPr marL="0" indent="0">
              <a:lnSpc>
                <a:spcPts val="1700"/>
              </a:lnSpc>
              <a:buNone/>
            </a:pPr>
            <a:r>
              <a:rPr lang="en-US" sz="1250" dirty="0">
                <a:solidFill>
                  <a:srgbClr val="6F6B7D"/>
                </a:solidFill>
                <a:latin typeface="Calibri" pitchFamily="34" charset="0"/>
                <a:ea typeface="Calibri" pitchFamily="34" charset="-122"/>
                <a:cs typeface="Calibri" pitchFamily="34" charset="-120"/>
              </a:rPr>
              <a:t>The classic 4D example application: people, companies, addresses, photos.</a:t>
            </a:r>
            <a:endParaRPr lang="en-US" sz="1250" dirty="0"/>
          </a:p>
          <a:p>
            <a:pPr marL="0" indent="0">
              <a:buNone/>
            </a:pPr>
            <a:endParaRPr lang="en-US" sz="1250" dirty="0"/>
          </a:p>
          <a:p>
            <a:pPr marL="0" indent="0">
              <a:lnSpc>
                <a:spcPts val="1700"/>
              </a:lnSpc>
              <a:buNone/>
            </a:pPr>
            <a:r>
              <a:rPr lang="en-US" sz="1250" dirty="0">
                <a:solidFill>
                  <a:srgbClr val="6F6B7D"/>
                </a:solidFill>
                <a:latin typeface="Calibri" pitchFamily="34" charset="0"/>
                <a:ea typeface="Calibri" pitchFamily="34" charset="-122"/>
                <a:cs typeface="Calibri" pitchFamily="34" charset="-120"/>
              </a:rPr>
              <a:t>Our target: the static contact detail form.</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marL="0" indent="0">
              <a:buNone/>
            </a:pPr>
            <a:r>
              <a:rPr lang="en-US" sz="1200" b="1" kern="0" spc="300" dirty="0">
                <a:solidFill>
                  <a:srgbClr val="6E56CF"/>
                </a:solidFill>
                <a:latin typeface="Calibri" pitchFamily="34" charset="0"/>
                <a:ea typeface="Calibri" pitchFamily="34" charset="-122"/>
                <a:cs typeface="Calibri" pitchFamily="34" charset="-120"/>
              </a:rPr>
              <a:t>LIVE DEMO 4 · EA_CONTACTS</a:t>
            </a:r>
            <a:endParaRPr lang="en-US" sz="1200" dirty="0"/>
          </a:p>
        </p:txBody>
      </p:sp>
      <p:sp>
        <p:nvSpPr>
          <p:cNvPr id="3" name="Text 1"/>
          <p:cNvSpPr/>
          <p:nvPr/>
        </p:nvSpPr>
        <p:spPr>
          <a:xfrm>
            <a:off x="548640" y="658368"/>
            <a:ext cx="8046720" cy="594360"/>
          </a:xfrm>
          <a:prstGeom prst="rect">
            <a:avLst/>
          </a:prstGeom>
          <a:noFill/>
          <a:ln/>
        </p:spPr>
        <p:txBody>
          <a:bodyPr wrap="square" lIns="0" tIns="0" rIns="0" bIns="0" rtlCol="0" anchor="ctr"/>
          <a:lstStyle/>
          <a:p>
            <a:pPr marL="0" indent="0">
              <a:buNone/>
            </a:pPr>
            <a:r>
              <a:rPr lang="en-US" sz="3000" b="1" dirty="0">
                <a:solidFill>
                  <a:srgbClr val="23202E"/>
                </a:solidFill>
                <a:latin typeface="Calibri" pitchFamily="34" charset="0"/>
                <a:ea typeface="Calibri" pitchFamily="34" charset="-122"/>
                <a:cs typeface="Calibri" pitchFamily="34" charset="-120"/>
              </a:rPr>
              <a:t>Redoing the Page with 4D </a:t>
            </a:r>
            <a:r>
              <a:rPr lang="en-US" sz="3000" b="1" dirty="0" err="1">
                <a:solidFill>
                  <a:srgbClr val="23202E"/>
                </a:solidFill>
                <a:latin typeface="Calibri" pitchFamily="34" charset="0"/>
                <a:ea typeface="Calibri" pitchFamily="34" charset="-122"/>
                <a:cs typeface="Calibri" pitchFamily="34" charset="-120"/>
              </a:rPr>
              <a:t>Qodly</a:t>
            </a:r>
            <a:r>
              <a:rPr lang="en-US" sz="3000" b="1" dirty="0">
                <a:solidFill>
                  <a:srgbClr val="23202E"/>
                </a:solidFill>
                <a:latin typeface="Calibri" pitchFamily="34" charset="0"/>
                <a:ea typeface="Calibri" pitchFamily="34" charset="-122"/>
                <a:cs typeface="Calibri" pitchFamily="34" charset="-120"/>
              </a:rPr>
              <a:t> Pro</a:t>
            </a:r>
            <a:endParaRPr lang="en-US" sz="3000" dirty="0"/>
          </a:p>
        </p:txBody>
      </p:sp>
      <p:sp>
        <p:nvSpPr>
          <p:cNvPr id="4" name="Shape 2"/>
          <p:cNvSpPr/>
          <p:nvPr/>
        </p:nvSpPr>
        <p:spPr>
          <a:xfrm>
            <a:off x="7909560" y="457200"/>
            <a:ext cx="685800" cy="685800"/>
          </a:xfrm>
          <a:prstGeom prst="ellipse">
            <a:avLst/>
          </a:prstGeom>
          <a:solidFill>
            <a:srgbClr val="EFEBFA"/>
          </a:solidFill>
          <a:ln/>
        </p:spPr>
        <p:txBody>
          <a:bodyPr/>
          <a:lstStyle/>
          <a:p>
            <a:endParaRPr lang="en-FR"/>
          </a:p>
        </p:txBody>
      </p:sp>
      <p:pic>
        <p:nvPicPr>
          <p:cNvPr id="5" name="Image 0" descr="preencoded.png"/>
          <p:cNvPicPr>
            <a:picLocks noChangeAspect="1"/>
          </p:cNvPicPr>
          <p:nvPr/>
        </p:nvPicPr>
        <p:blipFill>
          <a:blip r:embed="rId3"/>
          <a:stretch>
            <a:fillRect/>
          </a:stretch>
        </p:blipFill>
        <p:spPr>
          <a:xfrm>
            <a:off x="8094726" y="642366"/>
            <a:ext cx="315468" cy="315468"/>
          </a:xfrm>
          <a:prstGeom prst="rect">
            <a:avLst/>
          </a:prstGeom>
        </p:spPr>
      </p:pic>
      <p:sp>
        <p:nvSpPr>
          <p:cNvPr id="6" name="Text 3"/>
          <p:cNvSpPr/>
          <p:nvPr/>
        </p:nvSpPr>
        <p:spPr>
          <a:xfrm>
            <a:off x="548640" y="1417320"/>
            <a:ext cx="8046720" cy="320040"/>
          </a:xfrm>
          <a:prstGeom prst="rect">
            <a:avLst/>
          </a:prstGeom>
          <a:noFill/>
          <a:ln/>
        </p:spPr>
        <p:txBody>
          <a:bodyPr wrap="square" lIns="0" tIns="0" rIns="0" bIns="0" rtlCol="0" anchor="ctr"/>
          <a:lstStyle/>
          <a:p>
            <a:pPr marL="0" indent="0">
              <a:buNone/>
            </a:pPr>
            <a:r>
              <a:rPr lang="en-US" sz="1400" i="1" dirty="0">
                <a:solidFill>
                  <a:srgbClr val="6F6B7D"/>
                </a:solidFill>
                <a:latin typeface="Calibri" pitchFamily="34" charset="0"/>
                <a:ea typeface="Calibri" pitchFamily="34" charset="-122"/>
                <a:cs typeface="Calibri" pitchFamily="34" charset="-120"/>
              </a:rPr>
              <a:t>Turn the static detail form into a shareable business card</a:t>
            </a:r>
            <a:endParaRPr lang="en-US" sz="1400" dirty="0"/>
          </a:p>
        </p:txBody>
      </p:sp>
      <p:sp>
        <p:nvSpPr>
          <p:cNvPr id="7" name="Shape 4"/>
          <p:cNvSpPr/>
          <p:nvPr/>
        </p:nvSpPr>
        <p:spPr>
          <a:xfrm>
            <a:off x="548640" y="1737361"/>
            <a:ext cx="8046720" cy="1120000"/>
          </a:xfrm>
          <a:prstGeom prst="roundRect">
            <a:avLst>
              <a:gd name="adj" fmla="val 8537"/>
            </a:avLst>
          </a:prstGeom>
          <a:solidFill>
            <a:srgbClr val="191233"/>
          </a:solidFill>
          <a:ln w="12700">
            <a:solidFill>
              <a:srgbClr val="34294F"/>
            </a:solidFill>
            <a:prstDash val="solid"/>
          </a:ln>
          <a:effectLst>
            <a:outerShdw blurRad="101600" dist="25400" dir="5400000" algn="bl" rotWithShape="0">
              <a:srgbClr val="191233">
                <a:alpha val="10000"/>
              </a:srgbClr>
            </a:outerShdw>
          </a:effectLst>
        </p:spPr>
        <p:txBody>
          <a:bodyPr/>
          <a:lstStyle/>
          <a:p>
            <a:endParaRPr lang="en-FR"/>
          </a:p>
        </p:txBody>
      </p:sp>
      <p:sp>
        <p:nvSpPr>
          <p:cNvPr id="8" name="Text 5"/>
          <p:cNvSpPr/>
          <p:nvPr/>
        </p:nvSpPr>
        <p:spPr>
          <a:xfrm>
            <a:off x="868680" y="1965960"/>
            <a:ext cx="1463040" cy="749808"/>
          </a:xfrm>
          <a:prstGeom prst="rect">
            <a:avLst/>
          </a:prstGeom>
          <a:noFill/>
          <a:ln/>
        </p:spPr>
        <p:txBody>
          <a:bodyPr wrap="square" lIns="0" tIns="0" rIns="0" bIns="0" rtlCol="0" anchor="ctr"/>
          <a:lstStyle/>
          <a:p>
            <a:pPr marL="0" indent="0">
              <a:buNone/>
            </a:pPr>
            <a:r>
              <a:rPr lang="en-US" sz="1200" b="1" kern="0" spc="200" dirty="0">
                <a:solidFill>
                  <a:srgbClr val="A99BE8"/>
                </a:solidFill>
                <a:latin typeface="Calibri" pitchFamily="34" charset="0"/>
                <a:ea typeface="Calibri" pitchFamily="34" charset="-122"/>
                <a:cs typeface="Calibri" pitchFamily="34" charset="-120"/>
              </a:rPr>
              <a:t>PROMPT</a:t>
            </a:r>
            <a:endParaRPr lang="en-US" sz="1200" dirty="0"/>
          </a:p>
        </p:txBody>
      </p:sp>
      <p:sp>
        <p:nvSpPr>
          <p:cNvPr id="9" name="Text 6"/>
          <p:cNvSpPr/>
          <p:nvPr/>
        </p:nvSpPr>
        <p:spPr>
          <a:xfrm>
            <a:off x="2468880" y="1737361"/>
            <a:ext cx="5760720" cy="900000"/>
          </a:xfrm>
          <a:prstGeom prst="rect">
            <a:avLst/>
          </a:prstGeom>
          <a:noFill/>
          <a:ln/>
        </p:spPr>
        <p:txBody>
          <a:bodyPr wrap="square" lIns="0" tIns="0" rIns="0" bIns="0" rtlCol="0" anchor="ctr"/>
          <a:lstStyle/>
          <a:p>
            <a:r>
              <a:rPr lang="en-GB" sz="1000" dirty="0">
                <a:solidFill>
                  <a:srgbClr val="CBC7DA"/>
                </a:solidFill>
              </a:rPr>
              <a:t>Create a modern and responsive “Shareable Business Card” page using </a:t>
            </a:r>
            <a:r>
              <a:rPr lang="en-GB" sz="1000" dirty="0" err="1">
                <a:solidFill>
                  <a:srgbClr val="CBC7DA"/>
                </a:solidFill>
              </a:rPr>
              <a:t>Qodly</a:t>
            </a:r>
            <a:r>
              <a:rPr lang="en-GB" sz="1000" dirty="0">
                <a:solidFill>
                  <a:srgbClr val="CBC7DA"/>
                </a:solidFill>
              </a:rPr>
              <a:t> Pages.</a:t>
            </a:r>
          </a:p>
          <a:p>
            <a:pPr marL="628650" lvl="1" indent="-171450">
              <a:buFont typeface="Arial" panose="020B0604020202020204" pitchFamily="34" charset="0"/>
              <a:buChar char="•"/>
            </a:pPr>
            <a:r>
              <a:rPr lang="en-GB" sz="1000" dirty="0">
                <a:solidFill>
                  <a:srgbClr val="CBC7DA"/>
                </a:solidFill>
              </a:rPr>
              <a:t>Data to Display</a:t>
            </a:r>
          </a:p>
          <a:p>
            <a:pPr marL="628650" lvl="1" indent="-171450">
              <a:buFont typeface="Arial" panose="020B0604020202020204" pitchFamily="34" charset="0"/>
              <a:buChar char="•"/>
            </a:pPr>
            <a:r>
              <a:rPr lang="en-GB" sz="1000" dirty="0">
                <a:solidFill>
                  <a:srgbClr val="CBC7DA"/>
                </a:solidFill>
              </a:rPr>
              <a:t>Main Concept</a:t>
            </a:r>
          </a:p>
          <a:p>
            <a:pPr marL="628650" lvl="1" indent="-171450">
              <a:buFont typeface="Arial" panose="020B0604020202020204" pitchFamily="34" charset="0"/>
              <a:buChar char="•"/>
            </a:pPr>
            <a:r>
              <a:rPr lang="en-GB" sz="1000" dirty="0">
                <a:solidFill>
                  <a:srgbClr val="CBC7DA"/>
                </a:solidFill>
              </a:rPr>
              <a:t>Existing Actions</a:t>
            </a:r>
          </a:p>
          <a:p>
            <a:pPr marL="628650" lvl="1" indent="-171450">
              <a:buFont typeface="Arial" panose="020B0604020202020204" pitchFamily="34" charset="0"/>
              <a:buChar char="•"/>
            </a:pPr>
            <a:r>
              <a:rPr lang="en-GB" sz="1000" dirty="0">
                <a:solidFill>
                  <a:srgbClr val="CBC7DA"/>
                </a:solidFill>
              </a:rPr>
              <a:t>Visual Direction</a:t>
            </a:r>
          </a:p>
          <a:p>
            <a:endParaRPr lang="en-GB"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8E9E09A-71B0-65A4-3258-83AFE3DF2C2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94C7FDF-7753-16A5-5242-16077CFE9814}"/>
              </a:ext>
            </a:extLst>
          </p:cNvPr>
          <p:cNvSpPr/>
          <p:nvPr/>
        </p:nvSpPr>
        <p:spPr>
          <a:xfrm>
            <a:off x="548640" y="384048"/>
            <a:ext cx="8046720" cy="274320"/>
          </a:xfrm>
          <a:prstGeom prst="rect">
            <a:avLst/>
          </a:prstGeom>
          <a:noFill/>
          <a:ln/>
        </p:spPr>
        <p:txBody>
          <a:bodyPr wrap="square" lIns="0" tIns="0" rIns="0" bIns="0" rtlCol="0" anchor="ctr"/>
          <a:lstStyle/>
          <a:p>
            <a:pPr marL="0" indent="0">
              <a:buNone/>
            </a:pPr>
            <a:r>
              <a:rPr lang="en-US" sz="1200" b="1" kern="0" spc="300" dirty="0">
                <a:solidFill>
                  <a:srgbClr val="6E56CF"/>
                </a:solidFill>
                <a:latin typeface="Calibri" pitchFamily="34" charset="0"/>
                <a:ea typeface="Calibri" pitchFamily="34" charset="-122"/>
                <a:cs typeface="Calibri" pitchFamily="34" charset="-120"/>
              </a:rPr>
              <a:t>LIVE DEMO 4 · EA_CONTACTS</a:t>
            </a:r>
            <a:endParaRPr lang="en-US" sz="1200" dirty="0"/>
          </a:p>
        </p:txBody>
      </p:sp>
      <p:sp>
        <p:nvSpPr>
          <p:cNvPr id="3" name="Text 1">
            <a:extLst>
              <a:ext uri="{FF2B5EF4-FFF2-40B4-BE49-F238E27FC236}">
                <a16:creationId xmlns:a16="http://schemas.microsoft.com/office/drawing/2014/main" id="{85E63EB2-11B3-DEB6-3D9D-C06E28EAB5D9}"/>
              </a:ext>
            </a:extLst>
          </p:cNvPr>
          <p:cNvSpPr/>
          <p:nvPr/>
        </p:nvSpPr>
        <p:spPr>
          <a:xfrm>
            <a:off x="548640" y="658368"/>
            <a:ext cx="8046720" cy="594360"/>
          </a:xfrm>
          <a:prstGeom prst="rect">
            <a:avLst/>
          </a:prstGeom>
          <a:noFill/>
          <a:ln/>
        </p:spPr>
        <p:txBody>
          <a:bodyPr wrap="square" lIns="0" tIns="0" rIns="0" bIns="0" rtlCol="0" anchor="ctr"/>
          <a:lstStyle/>
          <a:p>
            <a:pPr marL="0" indent="0">
              <a:buNone/>
            </a:pPr>
            <a:r>
              <a:rPr lang="en-US" sz="3000" b="1" dirty="0">
                <a:solidFill>
                  <a:srgbClr val="23202E"/>
                </a:solidFill>
                <a:latin typeface="Calibri" pitchFamily="34" charset="0"/>
                <a:ea typeface="Calibri" pitchFamily="34" charset="-122"/>
                <a:cs typeface="Calibri" pitchFamily="34" charset="-120"/>
              </a:rPr>
              <a:t>Contact Card with QR Code</a:t>
            </a:r>
            <a:endParaRPr lang="en-US" sz="3000" dirty="0"/>
          </a:p>
        </p:txBody>
      </p:sp>
      <p:sp>
        <p:nvSpPr>
          <p:cNvPr id="4" name="Shape 2">
            <a:extLst>
              <a:ext uri="{FF2B5EF4-FFF2-40B4-BE49-F238E27FC236}">
                <a16:creationId xmlns:a16="http://schemas.microsoft.com/office/drawing/2014/main" id="{DBAF223C-75CB-FEEB-2F83-DFBFBB5F4601}"/>
              </a:ext>
            </a:extLst>
          </p:cNvPr>
          <p:cNvSpPr/>
          <p:nvPr/>
        </p:nvSpPr>
        <p:spPr>
          <a:xfrm>
            <a:off x="7909560" y="457200"/>
            <a:ext cx="685800" cy="685800"/>
          </a:xfrm>
          <a:prstGeom prst="ellipse">
            <a:avLst/>
          </a:prstGeom>
          <a:solidFill>
            <a:srgbClr val="EFEBFA"/>
          </a:solidFill>
          <a:ln/>
        </p:spPr>
        <p:txBody>
          <a:bodyPr/>
          <a:lstStyle/>
          <a:p>
            <a:endParaRPr lang="en-FR"/>
          </a:p>
        </p:txBody>
      </p:sp>
      <p:pic>
        <p:nvPicPr>
          <p:cNvPr id="5" name="Image 0" descr="preencoded.png">
            <a:extLst>
              <a:ext uri="{FF2B5EF4-FFF2-40B4-BE49-F238E27FC236}">
                <a16:creationId xmlns:a16="http://schemas.microsoft.com/office/drawing/2014/main" id="{CEEBE24D-01FD-107B-C76B-EA3E97D3157E}"/>
              </a:ext>
            </a:extLst>
          </p:cNvPr>
          <p:cNvPicPr>
            <a:picLocks noChangeAspect="1"/>
          </p:cNvPicPr>
          <p:nvPr/>
        </p:nvPicPr>
        <p:blipFill>
          <a:blip r:embed="rId3"/>
          <a:stretch>
            <a:fillRect/>
          </a:stretch>
        </p:blipFill>
        <p:spPr>
          <a:xfrm>
            <a:off x="8094726" y="642366"/>
            <a:ext cx="315468" cy="315468"/>
          </a:xfrm>
          <a:prstGeom prst="rect">
            <a:avLst/>
          </a:prstGeom>
        </p:spPr>
      </p:pic>
      <p:sp>
        <p:nvSpPr>
          <p:cNvPr id="6" name="Text 3">
            <a:extLst>
              <a:ext uri="{FF2B5EF4-FFF2-40B4-BE49-F238E27FC236}">
                <a16:creationId xmlns:a16="http://schemas.microsoft.com/office/drawing/2014/main" id="{7D9E087E-D2A9-9D18-E11E-1F1D8DFB66E6}"/>
              </a:ext>
            </a:extLst>
          </p:cNvPr>
          <p:cNvSpPr/>
          <p:nvPr/>
        </p:nvSpPr>
        <p:spPr>
          <a:xfrm>
            <a:off x="548640" y="1417320"/>
            <a:ext cx="8046720" cy="320040"/>
          </a:xfrm>
          <a:prstGeom prst="rect">
            <a:avLst/>
          </a:prstGeom>
          <a:noFill/>
          <a:ln/>
        </p:spPr>
        <p:txBody>
          <a:bodyPr wrap="square" lIns="0" tIns="0" rIns="0" bIns="0" rtlCol="0" anchor="ctr"/>
          <a:lstStyle/>
          <a:p>
            <a:pPr marL="0" indent="0">
              <a:buNone/>
            </a:pPr>
            <a:r>
              <a:rPr lang="en-US" sz="1400" i="1" dirty="0">
                <a:solidFill>
                  <a:srgbClr val="6F6B7D"/>
                </a:solidFill>
                <a:latin typeface="Calibri" pitchFamily="34" charset="0"/>
                <a:ea typeface="Calibri" pitchFamily="34" charset="-122"/>
                <a:cs typeface="Calibri" pitchFamily="34" charset="-120"/>
              </a:rPr>
              <a:t>Turn the static detail form into a shareable business card</a:t>
            </a:r>
            <a:endParaRPr lang="en-US" sz="1400" dirty="0"/>
          </a:p>
        </p:txBody>
      </p:sp>
      <p:sp>
        <p:nvSpPr>
          <p:cNvPr id="7" name="Shape 4">
            <a:extLst>
              <a:ext uri="{FF2B5EF4-FFF2-40B4-BE49-F238E27FC236}">
                <a16:creationId xmlns:a16="http://schemas.microsoft.com/office/drawing/2014/main" id="{7D855726-1416-14D3-3E5E-43BC088DFA5D}"/>
              </a:ext>
            </a:extLst>
          </p:cNvPr>
          <p:cNvSpPr/>
          <p:nvPr/>
        </p:nvSpPr>
        <p:spPr>
          <a:xfrm>
            <a:off x="548640" y="1965960"/>
            <a:ext cx="8046720" cy="749808"/>
          </a:xfrm>
          <a:prstGeom prst="roundRect">
            <a:avLst>
              <a:gd name="adj" fmla="val 8537"/>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8" name="Text 5">
            <a:extLst>
              <a:ext uri="{FF2B5EF4-FFF2-40B4-BE49-F238E27FC236}">
                <a16:creationId xmlns:a16="http://schemas.microsoft.com/office/drawing/2014/main" id="{378CD7B7-0D59-4352-0846-C64BF32A525D}"/>
              </a:ext>
            </a:extLst>
          </p:cNvPr>
          <p:cNvSpPr/>
          <p:nvPr/>
        </p:nvSpPr>
        <p:spPr>
          <a:xfrm>
            <a:off x="868680" y="1965960"/>
            <a:ext cx="1463040" cy="749808"/>
          </a:xfrm>
          <a:prstGeom prst="rect">
            <a:avLst/>
          </a:prstGeom>
          <a:noFill/>
          <a:ln/>
        </p:spPr>
        <p:txBody>
          <a:bodyPr wrap="square" lIns="0" tIns="0" rIns="0" bIns="0" rtlCol="0" anchor="ctr"/>
          <a:lstStyle/>
          <a:p>
            <a:pPr marL="0" indent="0">
              <a:buNone/>
            </a:pPr>
            <a:r>
              <a:rPr lang="en-US" sz="1200" b="1" kern="0" spc="200" dirty="0">
                <a:solidFill>
                  <a:srgbClr val="6E56CF"/>
                </a:solidFill>
                <a:latin typeface="Calibri" pitchFamily="34" charset="0"/>
                <a:ea typeface="Calibri" pitchFamily="34" charset="-122"/>
                <a:cs typeface="Calibri" pitchFamily="34" charset="-120"/>
              </a:rPr>
              <a:t>PROPS</a:t>
            </a:r>
            <a:endParaRPr lang="en-US" sz="1200" dirty="0"/>
          </a:p>
        </p:txBody>
      </p:sp>
      <p:sp>
        <p:nvSpPr>
          <p:cNvPr id="9" name="Text 6">
            <a:extLst>
              <a:ext uri="{FF2B5EF4-FFF2-40B4-BE49-F238E27FC236}">
                <a16:creationId xmlns:a16="http://schemas.microsoft.com/office/drawing/2014/main" id="{C721EBA1-4210-8A74-C487-E2B29822B646}"/>
              </a:ext>
            </a:extLst>
          </p:cNvPr>
          <p:cNvSpPr/>
          <p:nvPr/>
        </p:nvSpPr>
        <p:spPr>
          <a:xfrm>
            <a:off x="2468880" y="1965960"/>
            <a:ext cx="5760720" cy="749808"/>
          </a:xfrm>
          <a:prstGeom prst="rect">
            <a:avLst/>
          </a:prstGeom>
          <a:noFill/>
          <a:ln/>
        </p:spPr>
        <p:txBody>
          <a:bodyPr wrap="square" lIns="0" tIns="0" rIns="0" bIns="0" rtlCol="0" anchor="ctr"/>
          <a:lstStyle/>
          <a:p>
            <a:pPr marL="0" indent="0">
              <a:lnSpc>
                <a:spcPts val="1700"/>
              </a:lnSpc>
              <a:buNone/>
            </a:pPr>
            <a:r>
              <a:rPr lang="en-US" sz="1300" dirty="0">
                <a:solidFill>
                  <a:srgbClr val="23202E"/>
                </a:solidFill>
                <a:latin typeface="Calibri" pitchFamily="34" charset="0"/>
                <a:ea typeface="Calibri" pitchFamily="34" charset="-122"/>
                <a:cs typeface="Calibri" pitchFamily="34" charset="-120"/>
              </a:rPr>
              <a:t>contact : entity — name, company, email, phone, photo from EA_Contacts</a:t>
            </a:r>
            <a:endParaRPr lang="en-US" sz="1300" dirty="0"/>
          </a:p>
        </p:txBody>
      </p:sp>
      <p:sp>
        <p:nvSpPr>
          <p:cNvPr id="10" name="Shape 7">
            <a:extLst>
              <a:ext uri="{FF2B5EF4-FFF2-40B4-BE49-F238E27FC236}">
                <a16:creationId xmlns:a16="http://schemas.microsoft.com/office/drawing/2014/main" id="{03DF5278-04EE-1922-6148-80B434268986}"/>
              </a:ext>
            </a:extLst>
          </p:cNvPr>
          <p:cNvSpPr/>
          <p:nvPr/>
        </p:nvSpPr>
        <p:spPr>
          <a:xfrm>
            <a:off x="548640" y="2916936"/>
            <a:ext cx="8046720" cy="749808"/>
          </a:xfrm>
          <a:prstGeom prst="roundRect">
            <a:avLst>
              <a:gd name="adj" fmla="val 8537"/>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11" name="Text 8">
            <a:extLst>
              <a:ext uri="{FF2B5EF4-FFF2-40B4-BE49-F238E27FC236}">
                <a16:creationId xmlns:a16="http://schemas.microsoft.com/office/drawing/2014/main" id="{D115B160-CC85-0AB2-F809-9B5EAF16234E}"/>
              </a:ext>
            </a:extLst>
          </p:cNvPr>
          <p:cNvSpPr/>
          <p:nvPr/>
        </p:nvSpPr>
        <p:spPr>
          <a:xfrm>
            <a:off x="868680" y="2916936"/>
            <a:ext cx="1463040" cy="749808"/>
          </a:xfrm>
          <a:prstGeom prst="rect">
            <a:avLst/>
          </a:prstGeom>
          <a:noFill/>
          <a:ln/>
        </p:spPr>
        <p:txBody>
          <a:bodyPr wrap="square" lIns="0" tIns="0" rIns="0" bIns="0" rtlCol="0" anchor="ctr"/>
          <a:lstStyle/>
          <a:p>
            <a:pPr marL="0" indent="0">
              <a:buNone/>
            </a:pPr>
            <a:r>
              <a:rPr lang="en-US" sz="1200" b="1" kern="0" spc="200" dirty="0">
                <a:solidFill>
                  <a:srgbClr val="6E56CF"/>
                </a:solidFill>
                <a:latin typeface="Calibri" pitchFamily="34" charset="0"/>
                <a:ea typeface="Calibri" pitchFamily="34" charset="-122"/>
                <a:cs typeface="Calibri" pitchFamily="34" charset="-120"/>
              </a:rPr>
              <a:t>EVENTS</a:t>
            </a:r>
            <a:endParaRPr lang="en-US" sz="1200" dirty="0"/>
          </a:p>
        </p:txBody>
      </p:sp>
      <p:sp>
        <p:nvSpPr>
          <p:cNvPr id="12" name="Text 9">
            <a:extLst>
              <a:ext uri="{FF2B5EF4-FFF2-40B4-BE49-F238E27FC236}">
                <a16:creationId xmlns:a16="http://schemas.microsoft.com/office/drawing/2014/main" id="{C80AAA5B-53EE-D00D-A367-E0491F202D25}"/>
              </a:ext>
            </a:extLst>
          </p:cNvPr>
          <p:cNvSpPr/>
          <p:nvPr/>
        </p:nvSpPr>
        <p:spPr>
          <a:xfrm>
            <a:off x="2468880" y="2916936"/>
            <a:ext cx="5760720" cy="749808"/>
          </a:xfrm>
          <a:prstGeom prst="rect">
            <a:avLst/>
          </a:prstGeom>
          <a:noFill/>
          <a:ln/>
        </p:spPr>
        <p:txBody>
          <a:bodyPr wrap="square" lIns="0" tIns="0" rIns="0" bIns="0" rtlCol="0" anchor="ctr"/>
          <a:lstStyle/>
          <a:p>
            <a:pPr marL="0" indent="0">
              <a:lnSpc>
                <a:spcPts val="1700"/>
              </a:lnSpc>
              <a:buNone/>
            </a:pPr>
            <a:r>
              <a:rPr lang="en-US" sz="1300" dirty="0">
                <a:solidFill>
                  <a:srgbClr val="23202E"/>
                </a:solidFill>
                <a:latin typeface="Calibri" pitchFamily="34" charset="0"/>
                <a:ea typeface="Calibri" pitchFamily="34" charset="-122"/>
                <a:cs typeface="Calibri" pitchFamily="34" charset="-120"/>
              </a:rPr>
              <a:t>No Event. Only Front-end function to generate .</a:t>
            </a:r>
            <a:r>
              <a:rPr lang="en-US" sz="1300" dirty="0" err="1">
                <a:solidFill>
                  <a:srgbClr val="23202E"/>
                </a:solidFill>
                <a:latin typeface="Calibri" pitchFamily="34" charset="0"/>
                <a:ea typeface="Calibri" pitchFamily="34" charset="-122"/>
                <a:cs typeface="Calibri" pitchFamily="34" charset="-120"/>
              </a:rPr>
              <a:t>vcf</a:t>
            </a:r>
            <a:r>
              <a:rPr lang="en-US" sz="1300" dirty="0">
                <a:solidFill>
                  <a:srgbClr val="23202E"/>
                </a:solidFill>
                <a:latin typeface="Calibri" pitchFamily="34" charset="0"/>
                <a:ea typeface="Calibri" pitchFamily="34" charset="-122"/>
                <a:cs typeface="Calibri" pitchFamily="34" charset="-120"/>
              </a:rPr>
              <a:t> file</a:t>
            </a:r>
            <a:endParaRPr lang="en-US" sz="1300" dirty="0"/>
          </a:p>
        </p:txBody>
      </p:sp>
      <p:sp>
        <p:nvSpPr>
          <p:cNvPr id="13" name="Shape 10">
            <a:extLst>
              <a:ext uri="{FF2B5EF4-FFF2-40B4-BE49-F238E27FC236}">
                <a16:creationId xmlns:a16="http://schemas.microsoft.com/office/drawing/2014/main" id="{40C08EF5-7F8D-6C8E-98EF-D9DF4AA98F40}"/>
              </a:ext>
            </a:extLst>
          </p:cNvPr>
          <p:cNvSpPr/>
          <p:nvPr/>
        </p:nvSpPr>
        <p:spPr>
          <a:xfrm>
            <a:off x="548640" y="3867912"/>
            <a:ext cx="8046720" cy="749808"/>
          </a:xfrm>
          <a:prstGeom prst="roundRect">
            <a:avLst>
              <a:gd name="adj" fmla="val 8537"/>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14" name="Text 11">
            <a:extLst>
              <a:ext uri="{FF2B5EF4-FFF2-40B4-BE49-F238E27FC236}">
                <a16:creationId xmlns:a16="http://schemas.microsoft.com/office/drawing/2014/main" id="{0AE82F15-2C48-216B-99B8-5B1689FC3E55}"/>
              </a:ext>
            </a:extLst>
          </p:cNvPr>
          <p:cNvSpPr/>
          <p:nvPr/>
        </p:nvSpPr>
        <p:spPr>
          <a:xfrm>
            <a:off x="868680" y="3867912"/>
            <a:ext cx="1463040" cy="749808"/>
          </a:xfrm>
          <a:prstGeom prst="rect">
            <a:avLst/>
          </a:prstGeom>
          <a:noFill/>
          <a:ln/>
        </p:spPr>
        <p:txBody>
          <a:bodyPr wrap="square" lIns="0" tIns="0" rIns="0" bIns="0" rtlCol="0" anchor="ctr"/>
          <a:lstStyle/>
          <a:p>
            <a:pPr marL="0" indent="0">
              <a:buNone/>
            </a:pPr>
            <a:r>
              <a:rPr lang="en-US" sz="1200" b="1" kern="0" spc="200" dirty="0">
                <a:solidFill>
                  <a:srgbClr val="6E56CF"/>
                </a:solidFill>
                <a:latin typeface="Calibri" pitchFamily="34" charset="0"/>
                <a:ea typeface="Calibri" pitchFamily="34" charset="-122"/>
                <a:cs typeface="Calibri" pitchFamily="34" charset="-120"/>
              </a:rPr>
              <a:t>BEHAVIOR</a:t>
            </a:r>
            <a:endParaRPr lang="en-US" sz="1200" dirty="0"/>
          </a:p>
        </p:txBody>
      </p:sp>
      <p:sp>
        <p:nvSpPr>
          <p:cNvPr id="15" name="Text 12">
            <a:extLst>
              <a:ext uri="{FF2B5EF4-FFF2-40B4-BE49-F238E27FC236}">
                <a16:creationId xmlns:a16="http://schemas.microsoft.com/office/drawing/2014/main" id="{3EF3EFFE-61DA-7AC8-BEA6-F5A9C656EA47}"/>
              </a:ext>
            </a:extLst>
          </p:cNvPr>
          <p:cNvSpPr/>
          <p:nvPr/>
        </p:nvSpPr>
        <p:spPr>
          <a:xfrm>
            <a:off x="2468880" y="3867912"/>
            <a:ext cx="5760720" cy="749808"/>
          </a:xfrm>
          <a:prstGeom prst="rect">
            <a:avLst/>
          </a:prstGeom>
          <a:noFill/>
          <a:ln/>
        </p:spPr>
        <p:txBody>
          <a:bodyPr wrap="square" lIns="0" tIns="0" rIns="0" bIns="0" rtlCol="0" anchor="ctr"/>
          <a:lstStyle/>
          <a:p>
            <a:pPr marL="0" indent="0">
              <a:lnSpc>
                <a:spcPts val="1700"/>
              </a:lnSpc>
              <a:buNone/>
            </a:pPr>
            <a:r>
              <a:rPr lang="en-US" sz="1300" dirty="0">
                <a:solidFill>
                  <a:srgbClr val="23202E"/>
                </a:solidFill>
                <a:latin typeface="Calibri" pitchFamily="34" charset="0"/>
                <a:ea typeface="Calibri" pitchFamily="34" charset="-122"/>
                <a:cs typeface="Calibri" pitchFamily="34" charset="-120"/>
              </a:rPr>
              <a:t>Business-card layout; live QR code encoding the vCard; photo with rounded crop</a:t>
            </a:r>
            <a:endParaRPr lang="en-US" sz="1300" dirty="0"/>
          </a:p>
        </p:txBody>
      </p:sp>
      <p:sp>
        <p:nvSpPr>
          <p:cNvPr id="16" name="Text 13">
            <a:extLst>
              <a:ext uri="{FF2B5EF4-FFF2-40B4-BE49-F238E27FC236}">
                <a16:creationId xmlns:a16="http://schemas.microsoft.com/office/drawing/2014/main" id="{5F0A6D90-DB61-C167-F916-00B211D76EA8}"/>
              </a:ext>
            </a:extLst>
          </p:cNvPr>
          <p:cNvSpPr/>
          <p:nvPr/>
        </p:nvSpPr>
        <p:spPr>
          <a:xfrm>
            <a:off x="548640" y="4754880"/>
            <a:ext cx="8046720" cy="274320"/>
          </a:xfrm>
          <a:prstGeom prst="rect">
            <a:avLst/>
          </a:prstGeom>
          <a:noFill/>
          <a:ln/>
        </p:spPr>
        <p:txBody>
          <a:bodyPr wrap="square" lIns="0" tIns="0" rIns="0" bIns="0" rtlCol="0" anchor="ctr"/>
          <a:lstStyle/>
          <a:p>
            <a:pPr marL="0" indent="0" algn="ctr">
              <a:buNone/>
            </a:pPr>
            <a:r>
              <a:rPr lang="en-US" sz="1200" dirty="0">
                <a:solidFill>
                  <a:srgbClr val="6F6B7D"/>
                </a:solidFill>
                <a:latin typeface="Calibri" pitchFamily="34" charset="0"/>
                <a:ea typeface="Calibri" pitchFamily="34" charset="-122"/>
                <a:cs typeface="Calibri" pitchFamily="34" charset="-120"/>
              </a:rPr>
              <a:t>One prompt. One component. Bound to ORDA in minutes.</a:t>
            </a:r>
            <a:endParaRPr lang="en-US" sz="1200" dirty="0"/>
          </a:p>
        </p:txBody>
      </p:sp>
    </p:spTree>
    <p:extLst>
      <p:ext uri="{BB962C8B-B14F-4D97-AF65-F5344CB8AC3E}">
        <p14:creationId xmlns:p14="http://schemas.microsoft.com/office/powerpoint/2010/main" val="6951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F5CD6EA-2D57-E41B-0363-CD62FF02749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6108DD-93D9-48C0-C4A3-7F0A3E592CC3}"/>
              </a:ext>
            </a:extLst>
          </p:cNvPr>
          <p:cNvSpPr/>
          <p:nvPr/>
        </p:nvSpPr>
        <p:spPr>
          <a:xfrm>
            <a:off x="548640" y="384048"/>
            <a:ext cx="8046720" cy="274320"/>
          </a:xfrm>
          <a:prstGeom prst="rect">
            <a:avLst/>
          </a:prstGeom>
          <a:noFill/>
          <a:ln/>
        </p:spPr>
        <p:txBody>
          <a:bodyPr wrap="square" lIns="0" tIns="0" rIns="0" bIns="0" rtlCol="0" anchor="ctr"/>
          <a:lstStyle/>
          <a:p>
            <a:pPr marL="0" indent="0">
              <a:buNone/>
            </a:pPr>
            <a:r>
              <a:rPr lang="en-US" sz="1200" b="1" kern="0" spc="300" dirty="0">
                <a:solidFill>
                  <a:srgbClr val="6E56CF"/>
                </a:solidFill>
                <a:latin typeface="Calibri" pitchFamily="34" charset="0"/>
                <a:ea typeface="Calibri" pitchFamily="34" charset="-122"/>
                <a:cs typeface="Calibri" pitchFamily="34" charset="-120"/>
              </a:rPr>
              <a:t>LIVE DEMO 4 · EA_CONTACTS</a:t>
            </a:r>
            <a:endParaRPr lang="en-US" sz="1200" dirty="0"/>
          </a:p>
        </p:txBody>
      </p:sp>
      <p:sp>
        <p:nvSpPr>
          <p:cNvPr id="3" name="Text 1">
            <a:extLst>
              <a:ext uri="{FF2B5EF4-FFF2-40B4-BE49-F238E27FC236}">
                <a16:creationId xmlns:a16="http://schemas.microsoft.com/office/drawing/2014/main" id="{C78A242D-AF96-3D3C-44A1-D83AD5C657EC}"/>
              </a:ext>
            </a:extLst>
          </p:cNvPr>
          <p:cNvSpPr/>
          <p:nvPr/>
        </p:nvSpPr>
        <p:spPr>
          <a:xfrm>
            <a:off x="548640" y="658368"/>
            <a:ext cx="8046720" cy="594360"/>
          </a:xfrm>
          <a:prstGeom prst="rect">
            <a:avLst/>
          </a:prstGeom>
          <a:noFill/>
          <a:ln/>
        </p:spPr>
        <p:txBody>
          <a:bodyPr wrap="square" lIns="0" tIns="0" rIns="0" bIns="0" rtlCol="0" anchor="ctr"/>
          <a:lstStyle/>
          <a:p>
            <a:pPr marL="0" indent="0">
              <a:buNone/>
            </a:pPr>
            <a:r>
              <a:rPr lang="en-US" sz="3000" b="1" dirty="0">
                <a:solidFill>
                  <a:srgbClr val="23202E"/>
                </a:solidFill>
                <a:latin typeface="Calibri" pitchFamily="34" charset="0"/>
                <a:ea typeface="Calibri" pitchFamily="34" charset="-122"/>
                <a:cs typeface="Calibri" pitchFamily="34" charset="-120"/>
              </a:rPr>
              <a:t>Contact Card with QR vCard</a:t>
            </a:r>
            <a:endParaRPr lang="en-US" sz="3000" dirty="0"/>
          </a:p>
        </p:txBody>
      </p:sp>
      <p:sp>
        <p:nvSpPr>
          <p:cNvPr id="4" name="Shape 2">
            <a:extLst>
              <a:ext uri="{FF2B5EF4-FFF2-40B4-BE49-F238E27FC236}">
                <a16:creationId xmlns:a16="http://schemas.microsoft.com/office/drawing/2014/main" id="{566DFD44-2D57-A30A-77DD-0D1ECAC7A38C}"/>
              </a:ext>
            </a:extLst>
          </p:cNvPr>
          <p:cNvSpPr/>
          <p:nvPr/>
        </p:nvSpPr>
        <p:spPr>
          <a:xfrm>
            <a:off x="7909560" y="457200"/>
            <a:ext cx="685800" cy="685800"/>
          </a:xfrm>
          <a:prstGeom prst="ellipse">
            <a:avLst/>
          </a:prstGeom>
          <a:solidFill>
            <a:srgbClr val="EFEBFA"/>
          </a:solidFill>
          <a:ln/>
        </p:spPr>
        <p:txBody>
          <a:bodyPr/>
          <a:lstStyle/>
          <a:p>
            <a:endParaRPr lang="en-FR"/>
          </a:p>
        </p:txBody>
      </p:sp>
      <p:pic>
        <p:nvPicPr>
          <p:cNvPr id="5" name="Image 0" descr="preencoded.png">
            <a:extLst>
              <a:ext uri="{FF2B5EF4-FFF2-40B4-BE49-F238E27FC236}">
                <a16:creationId xmlns:a16="http://schemas.microsoft.com/office/drawing/2014/main" id="{DD2547C4-D79D-E3B1-5AEA-EE0279215C67}"/>
              </a:ext>
            </a:extLst>
          </p:cNvPr>
          <p:cNvPicPr>
            <a:picLocks noChangeAspect="1"/>
          </p:cNvPicPr>
          <p:nvPr/>
        </p:nvPicPr>
        <p:blipFill>
          <a:blip r:embed="rId3"/>
          <a:stretch>
            <a:fillRect/>
          </a:stretch>
        </p:blipFill>
        <p:spPr>
          <a:xfrm>
            <a:off x="8094726" y="642366"/>
            <a:ext cx="315468" cy="315468"/>
          </a:xfrm>
          <a:prstGeom prst="rect">
            <a:avLst/>
          </a:prstGeom>
        </p:spPr>
      </p:pic>
      <p:sp>
        <p:nvSpPr>
          <p:cNvPr id="6" name="Text 3">
            <a:extLst>
              <a:ext uri="{FF2B5EF4-FFF2-40B4-BE49-F238E27FC236}">
                <a16:creationId xmlns:a16="http://schemas.microsoft.com/office/drawing/2014/main" id="{C1CF783B-C136-FFE0-CE4F-DF917E96CA4C}"/>
              </a:ext>
            </a:extLst>
          </p:cNvPr>
          <p:cNvSpPr/>
          <p:nvPr/>
        </p:nvSpPr>
        <p:spPr>
          <a:xfrm>
            <a:off x="548640" y="1168146"/>
            <a:ext cx="8046720" cy="320040"/>
          </a:xfrm>
          <a:prstGeom prst="rect">
            <a:avLst/>
          </a:prstGeom>
          <a:noFill/>
          <a:ln/>
        </p:spPr>
        <p:txBody>
          <a:bodyPr wrap="square" lIns="0" tIns="0" rIns="0" bIns="0" rtlCol="0" anchor="ctr"/>
          <a:lstStyle/>
          <a:p>
            <a:pPr marL="0" indent="0">
              <a:buNone/>
            </a:pPr>
            <a:r>
              <a:rPr lang="en-US" sz="1400" i="1" dirty="0">
                <a:solidFill>
                  <a:srgbClr val="6F6B7D"/>
                </a:solidFill>
                <a:latin typeface="Calibri" pitchFamily="34" charset="0"/>
                <a:ea typeface="Calibri" pitchFamily="34" charset="-122"/>
                <a:cs typeface="Calibri" pitchFamily="34" charset="-120"/>
              </a:rPr>
              <a:t>Turn the static detail form into a shareable business card</a:t>
            </a:r>
            <a:endParaRPr lang="en-US" sz="1400" dirty="0"/>
          </a:p>
        </p:txBody>
      </p:sp>
      <p:sp>
        <p:nvSpPr>
          <p:cNvPr id="7" name="Shape 4">
            <a:extLst>
              <a:ext uri="{FF2B5EF4-FFF2-40B4-BE49-F238E27FC236}">
                <a16:creationId xmlns:a16="http://schemas.microsoft.com/office/drawing/2014/main" id="{D368EB48-6DCB-A6C9-39C0-B2E1DD9E1DDA}"/>
              </a:ext>
            </a:extLst>
          </p:cNvPr>
          <p:cNvSpPr/>
          <p:nvPr/>
        </p:nvSpPr>
        <p:spPr>
          <a:xfrm>
            <a:off x="548640" y="1488187"/>
            <a:ext cx="8046720" cy="3547030"/>
          </a:xfrm>
          <a:prstGeom prst="roundRect">
            <a:avLst>
              <a:gd name="adj" fmla="val 8537"/>
            </a:avLst>
          </a:prstGeom>
          <a:solidFill>
            <a:srgbClr val="191233"/>
          </a:solidFill>
          <a:ln w="12700">
            <a:solidFill>
              <a:srgbClr val="34294F"/>
            </a:solidFill>
            <a:prstDash val="solid"/>
          </a:ln>
          <a:effectLst>
            <a:outerShdw blurRad="101600" dist="25400" dir="5400000" algn="bl" rotWithShape="0">
              <a:srgbClr val="191233">
                <a:alpha val="10000"/>
              </a:srgbClr>
            </a:outerShdw>
          </a:effectLst>
        </p:spPr>
        <p:txBody>
          <a:bodyPr/>
          <a:lstStyle/>
          <a:p>
            <a:endParaRPr lang="en-FR"/>
          </a:p>
        </p:txBody>
      </p:sp>
      <p:sp>
        <p:nvSpPr>
          <p:cNvPr id="8" name="Text 5">
            <a:extLst>
              <a:ext uri="{FF2B5EF4-FFF2-40B4-BE49-F238E27FC236}">
                <a16:creationId xmlns:a16="http://schemas.microsoft.com/office/drawing/2014/main" id="{4BF006B6-910F-7158-5AC6-35CEFC9A3DE5}"/>
              </a:ext>
            </a:extLst>
          </p:cNvPr>
          <p:cNvSpPr/>
          <p:nvPr/>
        </p:nvSpPr>
        <p:spPr>
          <a:xfrm>
            <a:off x="856649" y="1591056"/>
            <a:ext cx="1463040" cy="749808"/>
          </a:xfrm>
          <a:prstGeom prst="rect">
            <a:avLst/>
          </a:prstGeom>
          <a:noFill/>
          <a:ln/>
        </p:spPr>
        <p:txBody>
          <a:bodyPr wrap="square" lIns="0" tIns="0" rIns="0" bIns="0" rtlCol="0" anchor="ctr"/>
          <a:lstStyle/>
          <a:p>
            <a:pPr marL="0" indent="0">
              <a:buNone/>
            </a:pPr>
            <a:r>
              <a:rPr lang="en-US" sz="1200" b="1" kern="0" spc="200" dirty="0">
                <a:solidFill>
                  <a:srgbClr val="A99BE8"/>
                </a:solidFill>
                <a:latin typeface="Calibri" pitchFamily="34" charset="0"/>
                <a:ea typeface="Calibri" pitchFamily="34" charset="-122"/>
                <a:cs typeface="Calibri" pitchFamily="34" charset="-120"/>
              </a:rPr>
              <a:t>PROMPT</a:t>
            </a:r>
            <a:endParaRPr lang="en-US" sz="1200" dirty="0"/>
          </a:p>
        </p:txBody>
      </p:sp>
      <p:sp>
        <p:nvSpPr>
          <p:cNvPr id="9" name="Text 6">
            <a:extLst>
              <a:ext uri="{FF2B5EF4-FFF2-40B4-BE49-F238E27FC236}">
                <a16:creationId xmlns:a16="http://schemas.microsoft.com/office/drawing/2014/main" id="{2650F3A5-39C5-4555-D050-496ED7881A99}"/>
              </a:ext>
            </a:extLst>
          </p:cNvPr>
          <p:cNvSpPr/>
          <p:nvPr/>
        </p:nvSpPr>
        <p:spPr>
          <a:xfrm>
            <a:off x="2468880" y="1513331"/>
            <a:ext cx="5760720" cy="3521885"/>
          </a:xfrm>
          <a:prstGeom prst="rect">
            <a:avLst/>
          </a:prstGeom>
          <a:noFill/>
          <a:ln/>
        </p:spPr>
        <p:txBody>
          <a:bodyPr wrap="square" lIns="0" tIns="0" rIns="0" bIns="0" rtlCol="0" anchor="ctr"/>
          <a:lstStyle/>
          <a:p>
            <a:r>
              <a:rPr lang="en-GB" sz="1000" dirty="0">
                <a:solidFill>
                  <a:srgbClr val="CBC7DA"/>
                </a:solidFill>
              </a:rPr>
              <a:t>Use the </a:t>
            </a:r>
            <a:r>
              <a:rPr lang="en-GB" sz="1000" dirty="0" err="1">
                <a:solidFill>
                  <a:srgbClr val="CBC7DA"/>
                </a:solidFill>
              </a:rPr>
              <a:t>qodly</a:t>
            </a:r>
            <a:r>
              <a:rPr lang="en-GB" sz="1000" dirty="0">
                <a:solidFill>
                  <a:srgbClr val="CBC7DA"/>
                </a:solidFill>
              </a:rPr>
              <a:t>-custom-component skill. Scaffold with @</a:t>
            </a:r>
            <a:r>
              <a:rPr lang="en-GB" sz="1000" dirty="0" err="1">
                <a:solidFill>
                  <a:srgbClr val="CBC7DA"/>
                </a:solidFill>
              </a:rPr>
              <a:t>qodly</a:t>
            </a:r>
            <a:r>
              <a:rPr lang="en-GB" sz="1000" dirty="0">
                <a:solidFill>
                  <a:srgbClr val="CBC7DA"/>
                </a:solidFill>
              </a:rPr>
              <a:t>/cli, then implement the component using the standard Build / Render / Config / Settings structure.</a:t>
            </a:r>
          </a:p>
          <a:p>
            <a:br>
              <a:rPr lang="en-GB" sz="1000" dirty="0"/>
            </a:br>
            <a:endParaRPr lang="en-GB" sz="1000" dirty="0"/>
          </a:p>
          <a:p>
            <a:r>
              <a:rPr lang="en-GB" sz="1000" dirty="0">
                <a:solidFill>
                  <a:srgbClr val="CBC7DA"/>
                </a:solidFill>
              </a:rPr>
              <a:t>Create a shareable Contact Card with QR vCard custom component for </a:t>
            </a:r>
            <a:r>
              <a:rPr lang="en-GB" sz="1000" dirty="0" err="1">
                <a:solidFill>
                  <a:srgbClr val="CBC7DA"/>
                </a:solidFill>
              </a:rPr>
              <a:t>Qodly</a:t>
            </a:r>
            <a:r>
              <a:rPr lang="en-GB" sz="1000" dirty="0">
                <a:solidFill>
                  <a:srgbClr val="CBC7DA"/>
                </a:solidFill>
              </a:rPr>
              <a:t>. The component must follow a two-part contract: Props and </a:t>
            </a:r>
            <a:r>
              <a:rPr lang="en-GB" sz="1000" dirty="0" err="1">
                <a:solidFill>
                  <a:srgbClr val="CBC7DA"/>
                </a:solidFill>
              </a:rPr>
              <a:t>Behavior</a:t>
            </a:r>
            <a:r>
              <a:rPr lang="en-GB" sz="1000" dirty="0">
                <a:solidFill>
                  <a:srgbClr val="CBC7DA"/>
                </a:solidFill>
              </a:rPr>
              <a:t>. No custom events are required.</a:t>
            </a:r>
          </a:p>
          <a:p>
            <a:endParaRPr lang="en-GB" sz="1000" dirty="0"/>
          </a:p>
          <a:p>
            <a:r>
              <a:rPr lang="en-GB" sz="1000" b="1" dirty="0">
                <a:solidFill>
                  <a:srgbClr val="A99BE8"/>
                </a:solidFill>
              </a:rPr>
              <a:t>Props</a:t>
            </a:r>
            <a:endParaRPr lang="en-GB" sz="1000" dirty="0"/>
          </a:p>
          <a:p>
            <a:r>
              <a:rPr lang="en-GB" sz="1000" dirty="0">
                <a:solidFill>
                  <a:srgbClr val="CBC7DA"/>
                </a:solidFill>
              </a:rPr>
              <a:t>contact: a </a:t>
            </a:r>
            <a:r>
              <a:rPr lang="en-GB" sz="1000" dirty="0" err="1">
                <a:solidFill>
                  <a:srgbClr val="CBC7DA"/>
                </a:solidFill>
              </a:rPr>
              <a:t>Qodly</a:t>
            </a:r>
            <a:r>
              <a:rPr lang="en-GB" sz="1000" dirty="0">
                <a:solidFill>
                  <a:srgbClr val="CBC7DA"/>
                </a:solidFill>
              </a:rPr>
              <a:t> entity containing name, company, </a:t>
            </a:r>
            <a:r>
              <a:rPr lang="en-GB" sz="1000" dirty="0" err="1">
                <a:solidFill>
                  <a:srgbClr val="CBC7DA"/>
                </a:solidFill>
              </a:rPr>
              <a:t>jobTitle</a:t>
            </a:r>
            <a:r>
              <a:rPr lang="en-GB" sz="1000" dirty="0">
                <a:solidFill>
                  <a:srgbClr val="CBC7DA"/>
                </a:solidFill>
              </a:rPr>
              <a:t>, email, phone, address, website, and photo.</a:t>
            </a:r>
          </a:p>
          <a:p>
            <a:r>
              <a:rPr lang="en-GB" sz="1000" dirty="0">
                <a:solidFill>
                  <a:srgbClr val="CBC7DA"/>
                </a:solidFill>
              </a:rPr>
              <a:t>The entity can be bound to a </a:t>
            </a:r>
            <a:r>
              <a:rPr lang="en-GB" sz="1000" dirty="0" err="1">
                <a:solidFill>
                  <a:srgbClr val="CBC7DA"/>
                </a:solidFill>
              </a:rPr>
              <a:t>datasource</a:t>
            </a:r>
            <a:r>
              <a:rPr lang="en-GB" sz="1000" dirty="0">
                <a:solidFill>
                  <a:srgbClr val="CBC7DA"/>
                </a:solidFill>
              </a:rPr>
              <a:t> such as </a:t>
            </a:r>
            <a:r>
              <a:rPr lang="en-GB" sz="1000" dirty="0" err="1">
                <a:solidFill>
                  <a:srgbClr val="CBC7DA"/>
                </a:solidFill>
              </a:rPr>
              <a:t>EA_Contacts</a:t>
            </a:r>
            <a:r>
              <a:rPr lang="en-GB" sz="1000" dirty="0">
                <a:solidFill>
                  <a:srgbClr val="CBC7DA"/>
                </a:solidFill>
              </a:rPr>
              <a:t>.</a:t>
            </a:r>
          </a:p>
          <a:p>
            <a:endParaRPr lang="en-GB" sz="1000" dirty="0"/>
          </a:p>
          <a:p>
            <a:r>
              <a:rPr lang="en-GB" sz="1000" b="1" dirty="0" err="1">
                <a:solidFill>
                  <a:srgbClr val="A99BE8"/>
                </a:solidFill>
              </a:rPr>
              <a:t>Behavior</a:t>
            </a:r>
            <a:endParaRPr lang="en-GB" sz="1000" dirty="0"/>
          </a:p>
          <a:p>
            <a:r>
              <a:rPr lang="en-GB" sz="1000" dirty="0">
                <a:solidFill>
                  <a:srgbClr val="CBC7DA"/>
                </a:solidFill>
              </a:rPr>
              <a:t>Display the contact as a modern, responsive business card with a rounded photo, contact details, and a live QR code containing the generated vCard information.</a:t>
            </a:r>
          </a:p>
          <a:p>
            <a:endParaRPr lang="en-GB" sz="1000" dirty="0"/>
          </a:p>
          <a:p>
            <a:r>
              <a:rPr lang="en-GB" sz="1000" dirty="0">
                <a:solidFill>
                  <a:srgbClr val="CBC7DA"/>
                </a:solidFill>
              </a:rPr>
              <a:t>Add an “Add to Contacts” button. When clicked, generate the .</a:t>
            </a:r>
            <a:r>
              <a:rPr lang="en-GB" sz="1000" dirty="0" err="1">
                <a:solidFill>
                  <a:srgbClr val="CBC7DA"/>
                </a:solidFill>
              </a:rPr>
              <a:t>vcf</a:t>
            </a:r>
            <a:r>
              <a:rPr lang="en-GB" sz="1000" dirty="0">
                <a:solidFill>
                  <a:srgbClr val="CBC7DA"/>
                </a:solidFill>
              </a:rPr>
              <a:t> file entirely in the frontend using the current contact data, create a temporary browser download, and download the file without calling a server function.</a:t>
            </a:r>
          </a:p>
          <a:p>
            <a:endParaRPr lang="en-GB" sz="1000" dirty="0"/>
          </a:p>
          <a:p>
            <a:r>
              <a:rPr lang="en-GB" sz="1000" dirty="0">
                <a:solidFill>
                  <a:srgbClr val="CBC7DA"/>
                </a:solidFill>
              </a:rPr>
              <a:t>Refresh the card, QR code, and vCard content whenever the </a:t>
            </a:r>
            <a:r>
              <a:rPr lang="en-GB" sz="1000" dirty="0" err="1">
                <a:solidFill>
                  <a:srgbClr val="CBC7DA"/>
                </a:solidFill>
              </a:rPr>
              <a:t>Qodly</a:t>
            </a:r>
            <a:r>
              <a:rPr lang="en-GB" sz="1000" dirty="0">
                <a:solidFill>
                  <a:srgbClr val="CBC7DA"/>
                </a:solidFill>
              </a:rPr>
              <a:t> </a:t>
            </a:r>
            <a:r>
              <a:rPr lang="en-GB" sz="1000" dirty="0" err="1">
                <a:solidFill>
                  <a:srgbClr val="CBC7DA"/>
                </a:solidFill>
              </a:rPr>
              <a:t>datasource</a:t>
            </a:r>
            <a:r>
              <a:rPr lang="en-GB" sz="1000" dirty="0">
                <a:solidFill>
                  <a:srgbClr val="CBC7DA"/>
                </a:solidFill>
              </a:rPr>
              <a:t> changes. Hide empty fields, provide a fallback avatar when no photo is available, sanitize the generated vCard values, and revoke temporary file URLs after the download.</a:t>
            </a:r>
          </a:p>
          <a:p>
            <a:br>
              <a:rPr lang="en-GB" sz="1000" dirty="0"/>
            </a:br>
            <a:endParaRPr lang="en-GB" sz="1000" dirty="0"/>
          </a:p>
        </p:txBody>
      </p:sp>
    </p:spTree>
    <p:extLst>
      <p:ext uri="{BB962C8B-B14F-4D97-AF65-F5344CB8AC3E}">
        <p14:creationId xmlns:p14="http://schemas.microsoft.com/office/powerpoint/2010/main" val="1496141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marL="0" indent="0">
              <a:buNone/>
            </a:pPr>
            <a:r>
              <a:rPr lang="en-US" sz="1200" b="1" kern="0" spc="300" dirty="0">
                <a:solidFill>
                  <a:srgbClr val="6E56CF"/>
                </a:solidFill>
                <a:latin typeface="Calibri" pitchFamily="34" charset="0"/>
                <a:ea typeface="Calibri" pitchFamily="34" charset="-122"/>
                <a:cs typeface="Calibri" pitchFamily="34" charset="-120"/>
              </a:rPr>
              <a:t>MIGRATION PATH</a:t>
            </a:r>
            <a:endParaRPr lang="en-US" sz="1200" dirty="0"/>
          </a:p>
        </p:txBody>
      </p:sp>
      <p:sp>
        <p:nvSpPr>
          <p:cNvPr id="3" name="Text 1"/>
          <p:cNvSpPr/>
          <p:nvPr/>
        </p:nvSpPr>
        <p:spPr>
          <a:xfrm>
            <a:off x="548640" y="658368"/>
            <a:ext cx="8046720" cy="594360"/>
          </a:xfrm>
          <a:prstGeom prst="rect">
            <a:avLst/>
          </a:prstGeom>
          <a:noFill/>
          <a:ln/>
        </p:spPr>
        <p:txBody>
          <a:bodyPr wrap="square" lIns="0" tIns="0" rIns="0" bIns="0" rtlCol="0" anchor="ctr"/>
          <a:lstStyle/>
          <a:p>
            <a:pPr marL="0" indent="0">
              <a:buNone/>
            </a:pPr>
            <a:r>
              <a:rPr lang="en-US" sz="3000" b="1" dirty="0">
                <a:solidFill>
                  <a:srgbClr val="23202E"/>
                </a:solidFill>
                <a:latin typeface="Calibri" pitchFamily="34" charset="0"/>
                <a:ea typeface="Calibri" pitchFamily="34" charset="-122"/>
                <a:cs typeface="Calibri" pitchFamily="34" charset="-120"/>
              </a:rPr>
              <a:t>Webify gradually — no big-bang rewrite</a:t>
            </a:r>
            <a:endParaRPr lang="en-US" sz="3000" dirty="0"/>
          </a:p>
        </p:txBody>
      </p:sp>
      <p:sp>
        <p:nvSpPr>
          <p:cNvPr id="4" name="Shape 2"/>
          <p:cNvSpPr/>
          <p:nvPr/>
        </p:nvSpPr>
        <p:spPr>
          <a:xfrm>
            <a:off x="342900" y="1737360"/>
            <a:ext cx="2606040" cy="2468880"/>
          </a:xfrm>
          <a:prstGeom prst="roundRect">
            <a:avLst>
              <a:gd name="adj" fmla="val 2593"/>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5" name="Shape 3"/>
          <p:cNvSpPr/>
          <p:nvPr/>
        </p:nvSpPr>
        <p:spPr>
          <a:xfrm>
            <a:off x="617220" y="2011680"/>
            <a:ext cx="566928" cy="566928"/>
          </a:xfrm>
          <a:prstGeom prst="ellipse">
            <a:avLst/>
          </a:prstGeom>
          <a:solidFill>
            <a:srgbClr val="EFEBFA"/>
          </a:solidFill>
          <a:ln/>
        </p:spPr>
        <p:txBody>
          <a:bodyPr/>
          <a:lstStyle/>
          <a:p>
            <a:endParaRPr lang="en-FR"/>
          </a:p>
        </p:txBody>
      </p:sp>
      <p:pic>
        <p:nvPicPr>
          <p:cNvPr id="6" name="Image 0" descr="preencoded.png"/>
          <p:cNvPicPr>
            <a:picLocks noChangeAspect="1"/>
          </p:cNvPicPr>
          <p:nvPr/>
        </p:nvPicPr>
        <p:blipFill>
          <a:blip r:embed="rId3"/>
          <a:stretch>
            <a:fillRect/>
          </a:stretch>
        </p:blipFill>
        <p:spPr>
          <a:xfrm>
            <a:off x="770291" y="2164751"/>
            <a:ext cx="260787" cy="260787"/>
          </a:xfrm>
          <a:prstGeom prst="rect">
            <a:avLst/>
          </a:prstGeom>
        </p:spPr>
      </p:pic>
      <p:sp>
        <p:nvSpPr>
          <p:cNvPr id="7" name="Text 4"/>
          <p:cNvSpPr/>
          <p:nvPr/>
        </p:nvSpPr>
        <p:spPr>
          <a:xfrm>
            <a:off x="617220" y="2697480"/>
            <a:ext cx="2057400" cy="365760"/>
          </a:xfrm>
          <a:prstGeom prst="rect">
            <a:avLst/>
          </a:prstGeom>
          <a:noFill/>
          <a:ln/>
        </p:spPr>
        <p:txBody>
          <a:bodyPr wrap="square" lIns="0" tIns="0" rIns="0" bIns="0" rtlCol="0" anchor="ctr"/>
          <a:lstStyle/>
          <a:p>
            <a:pPr marL="0" indent="0">
              <a:buNone/>
            </a:pPr>
            <a:r>
              <a:rPr lang="en-US" sz="1600" b="1" dirty="0">
                <a:solidFill>
                  <a:srgbClr val="23202E"/>
                </a:solidFill>
                <a:latin typeface="Calibri" pitchFamily="34" charset="0"/>
                <a:ea typeface="Calibri" pitchFamily="34" charset="-122"/>
                <a:cs typeface="Calibri" pitchFamily="34" charset="-120"/>
              </a:rPr>
              <a:t>1 · Enable</a:t>
            </a:r>
            <a:endParaRPr lang="en-US" sz="1600" dirty="0"/>
          </a:p>
        </p:txBody>
      </p:sp>
      <p:sp>
        <p:nvSpPr>
          <p:cNvPr id="8" name="Text 5"/>
          <p:cNvSpPr/>
          <p:nvPr/>
        </p:nvSpPr>
        <p:spPr>
          <a:xfrm>
            <a:off x="617220" y="3063240"/>
            <a:ext cx="2057400" cy="1005840"/>
          </a:xfrm>
          <a:prstGeom prst="rect">
            <a:avLst/>
          </a:prstGeom>
          <a:noFill/>
          <a:ln/>
        </p:spPr>
        <p:txBody>
          <a:bodyPr wrap="square" lIns="0" tIns="0" rIns="0" bIns="0" rtlCol="0" anchor="ctr"/>
          <a:lstStyle/>
          <a:p>
            <a:pPr marL="0" indent="0">
              <a:lnSpc>
                <a:spcPts val="1600"/>
              </a:lnSpc>
              <a:buNone/>
            </a:pPr>
            <a:r>
              <a:rPr lang="en-US" sz="1200" dirty="0">
                <a:solidFill>
                  <a:srgbClr val="6F6B7D"/>
                </a:solidFill>
                <a:latin typeface="Calibri" pitchFamily="34" charset="0"/>
                <a:ea typeface="Calibri" pitchFamily="34" charset="-122"/>
                <a:cs typeface="Calibri" pitchFamily="34" charset="-120"/>
              </a:rPr>
              <a:t>Turn on Qodly Pro in your 4D project. Your structure and ORDA model are ready as-is — zero remodeling.</a:t>
            </a:r>
            <a:endParaRPr lang="en-US" sz="1200" dirty="0"/>
          </a:p>
        </p:txBody>
      </p:sp>
      <p:sp>
        <p:nvSpPr>
          <p:cNvPr id="9" name="Text 6"/>
          <p:cNvSpPr/>
          <p:nvPr/>
        </p:nvSpPr>
        <p:spPr>
          <a:xfrm>
            <a:off x="2894076" y="2743200"/>
            <a:ext cx="457200" cy="457200"/>
          </a:xfrm>
          <a:prstGeom prst="rect">
            <a:avLst/>
          </a:prstGeom>
          <a:noFill/>
          <a:ln/>
        </p:spPr>
        <p:txBody>
          <a:bodyPr wrap="square" lIns="0" tIns="0" rIns="0" bIns="0" rtlCol="0" anchor="ctr"/>
          <a:lstStyle/>
          <a:p>
            <a:pPr marL="0" indent="0" algn="ctr">
              <a:buNone/>
            </a:pPr>
            <a:r>
              <a:rPr lang="en-US" sz="2000" b="1" dirty="0">
                <a:solidFill>
                  <a:srgbClr val="6E56CF"/>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3268980" y="1737360"/>
            <a:ext cx="2606040" cy="2468880"/>
          </a:xfrm>
          <a:prstGeom prst="roundRect">
            <a:avLst>
              <a:gd name="adj" fmla="val 2593"/>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11" name="Shape 8"/>
          <p:cNvSpPr/>
          <p:nvPr/>
        </p:nvSpPr>
        <p:spPr>
          <a:xfrm>
            <a:off x="3543300" y="2011680"/>
            <a:ext cx="566928" cy="566928"/>
          </a:xfrm>
          <a:prstGeom prst="ellipse">
            <a:avLst/>
          </a:prstGeom>
          <a:solidFill>
            <a:srgbClr val="EFEBFA"/>
          </a:solidFill>
          <a:ln/>
        </p:spPr>
        <p:txBody>
          <a:bodyPr/>
          <a:lstStyle/>
          <a:p>
            <a:endParaRPr lang="en-FR"/>
          </a:p>
        </p:txBody>
      </p:sp>
      <p:pic>
        <p:nvPicPr>
          <p:cNvPr id="12" name="Image 1" descr="preencoded.png"/>
          <p:cNvPicPr>
            <a:picLocks noChangeAspect="1"/>
          </p:cNvPicPr>
          <p:nvPr/>
        </p:nvPicPr>
        <p:blipFill>
          <a:blip r:embed="rId4"/>
          <a:stretch>
            <a:fillRect/>
          </a:stretch>
        </p:blipFill>
        <p:spPr>
          <a:xfrm>
            <a:off x="3696371" y="2164751"/>
            <a:ext cx="260787" cy="260787"/>
          </a:xfrm>
          <a:prstGeom prst="rect">
            <a:avLst/>
          </a:prstGeom>
        </p:spPr>
      </p:pic>
      <p:sp>
        <p:nvSpPr>
          <p:cNvPr id="13" name="Text 9"/>
          <p:cNvSpPr/>
          <p:nvPr/>
        </p:nvSpPr>
        <p:spPr>
          <a:xfrm>
            <a:off x="3543300" y="2697480"/>
            <a:ext cx="2057400" cy="365760"/>
          </a:xfrm>
          <a:prstGeom prst="rect">
            <a:avLst/>
          </a:prstGeom>
          <a:noFill/>
          <a:ln/>
        </p:spPr>
        <p:txBody>
          <a:bodyPr wrap="square" lIns="0" tIns="0" rIns="0" bIns="0" rtlCol="0" anchor="ctr"/>
          <a:lstStyle/>
          <a:p>
            <a:pPr marL="0" indent="0">
              <a:buNone/>
            </a:pPr>
            <a:r>
              <a:rPr lang="en-US" sz="1600" b="1" dirty="0">
                <a:solidFill>
                  <a:srgbClr val="23202E"/>
                </a:solidFill>
                <a:latin typeface="Calibri" pitchFamily="34" charset="0"/>
                <a:ea typeface="Calibri" pitchFamily="34" charset="-122"/>
                <a:cs typeface="Calibri" pitchFamily="34" charset="-120"/>
              </a:rPr>
              <a:t>2 · Rebuild</a:t>
            </a:r>
            <a:endParaRPr lang="en-US" sz="1600" dirty="0"/>
          </a:p>
        </p:txBody>
      </p:sp>
      <p:sp>
        <p:nvSpPr>
          <p:cNvPr id="14" name="Text 10"/>
          <p:cNvSpPr/>
          <p:nvPr/>
        </p:nvSpPr>
        <p:spPr>
          <a:xfrm>
            <a:off x="3543300" y="3063240"/>
            <a:ext cx="2057400" cy="1005840"/>
          </a:xfrm>
          <a:prstGeom prst="rect">
            <a:avLst/>
          </a:prstGeom>
          <a:noFill/>
          <a:ln/>
        </p:spPr>
        <p:txBody>
          <a:bodyPr wrap="square" lIns="0" tIns="0" rIns="0" bIns="0" rtlCol="0" anchor="ctr"/>
          <a:lstStyle/>
          <a:p>
            <a:pPr marL="0" indent="0">
              <a:lnSpc>
                <a:spcPts val="1600"/>
              </a:lnSpc>
              <a:buNone/>
            </a:pPr>
            <a:r>
              <a:rPr lang="en-US" sz="1200" dirty="0">
                <a:solidFill>
                  <a:srgbClr val="6F6B7D"/>
                </a:solidFill>
                <a:latin typeface="Calibri" pitchFamily="34" charset="0"/>
                <a:ea typeface="Calibri" pitchFamily="34" charset="-122"/>
                <a:cs typeface="Calibri" pitchFamily="34" charset="-120"/>
              </a:rPr>
              <a:t>Recreate the main form with standard Qodly components: data table, search, detail panel.</a:t>
            </a:r>
            <a:endParaRPr lang="en-US" sz="1200" dirty="0"/>
          </a:p>
        </p:txBody>
      </p:sp>
      <p:sp>
        <p:nvSpPr>
          <p:cNvPr id="15" name="Text 11"/>
          <p:cNvSpPr/>
          <p:nvPr/>
        </p:nvSpPr>
        <p:spPr>
          <a:xfrm>
            <a:off x="5820156" y="2743200"/>
            <a:ext cx="457200" cy="457200"/>
          </a:xfrm>
          <a:prstGeom prst="rect">
            <a:avLst/>
          </a:prstGeom>
          <a:noFill/>
          <a:ln/>
        </p:spPr>
        <p:txBody>
          <a:bodyPr wrap="square" lIns="0" tIns="0" rIns="0" bIns="0" rtlCol="0" anchor="ctr"/>
          <a:lstStyle/>
          <a:p>
            <a:pPr marL="0" indent="0" algn="ctr">
              <a:buNone/>
            </a:pPr>
            <a:r>
              <a:rPr lang="en-US" sz="2000" b="1" dirty="0">
                <a:solidFill>
                  <a:srgbClr val="6E56CF"/>
                </a:solidFill>
                <a:latin typeface="Calibri" pitchFamily="34" charset="0"/>
                <a:ea typeface="Calibri" pitchFamily="34" charset="-122"/>
                <a:cs typeface="Calibri" pitchFamily="34" charset="-120"/>
              </a:rPr>
              <a:t>→</a:t>
            </a:r>
            <a:endParaRPr lang="en-US" sz="2000" dirty="0"/>
          </a:p>
        </p:txBody>
      </p:sp>
      <p:sp>
        <p:nvSpPr>
          <p:cNvPr id="16" name="Shape 12"/>
          <p:cNvSpPr/>
          <p:nvPr/>
        </p:nvSpPr>
        <p:spPr>
          <a:xfrm>
            <a:off x="6195060" y="1737360"/>
            <a:ext cx="2606040" cy="2468880"/>
          </a:xfrm>
          <a:prstGeom prst="roundRect">
            <a:avLst>
              <a:gd name="adj" fmla="val 2593"/>
            </a:avLst>
          </a:prstGeom>
          <a:solidFill>
            <a:srgbClr val="FFFFFF"/>
          </a:solidFill>
          <a:ln w="12700">
            <a:solidFill>
              <a:srgbClr val="E6E3EF"/>
            </a:solidFill>
            <a:prstDash val="solid"/>
          </a:ln>
          <a:effectLst>
            <a:outerShdw blurRad="101600" dist="25400" dir="5400000" algn="bl" rotWithShape="0">
              <a:srgbClr val="191233">
                <a:alpha val="10000"/>
              </a:srgbClr>
            </a:outerShdw>
          </a:effectLst>
        </p:spPr>
        <p:txBody>
          <a:bodyPr/>
          <a:lstStyle/>
          <a:p>
            <a:endParaRPr lang="en-FR"/>
          </a:p>
        </p:txBody>
      </p:sp>
      <p:sp>
        <p:nvSpPr>
          <p:cNvPr id="17" name="Shape 13"/>
          <p:cNvSpPr/>
          <p:nvPr/>
        </p:nvSpPr>
        <p:spPr>
          <a:xfrm>
            <a:off x="6469380" y="2011680"/>
            <a:ext cx="566928" cy="566928"/>
          </a:xfrm>
          <a:prstGeom prst="ellipse">
            <a:avLst/>
          </a:prstGeom>
          <a:solidFill>
            <a:srgbClr val="EFEBFA"/>
          </a:solidFill>
          <a:ln/>
        </p:spPr>
        <p:txBody>
          <a:bodyPr/>
          <a:lstStyle/>
          <a:p>
            <a:endParaRPr lang="en-FR"/>
          </a:p>
        </p:txBody>
      </p:sp>
      <p:pic>
        <p:nvPicPr>
          <p:cNvPr id="18" name="Image 2" descr="preencoded.png"/>
          <p:cNvPicPr>
            <a:picLocks noChangeAspect="1"/>
          </p:cNvPicPr>
          <p:nvPr/>
        </p:nvPicPr>
        <p:blipFill>
          <a:blip r:embed="rId5"/>
          <a:stretch>
            <a:fillRect/>
          </a:stretch>
        </p:blipFill>
        <p:spPr>
          <a:xfrm>
            <a:off x="6622451" y="2164751"/>
            <a:ext cx="260787" cy="260787"/>
          </a:xfrm>
          <a:prstGeom prst="rect">
            <a:avLst/>
          </a:prstGeom>
        </p:spPr>
      </p:pic>
      <p:sp>
        <p:nvSpPr>
          <p:cNvPr id="19" name="Text 14"/>
          <p:cNvSpPr/>
          <p:nvPr/>
        </p:nvSpPr>
        <p:spPr>
          <a:xfrm>
            <a:off x="6469380" y="2697480"/>
            <a:ext cx="2057400" cy="365760"/>
          </a:xfrm>
          <a:prstGeom prst="rect">
            <a:avLst/>
          </a:prstGeom>
          <a:noFill/>
          <a:ln/>
        </p:spPr>
        <p:txBody>
          <a:bodyPr wrap="square" lIns="0" tIns="0" rIns="0" bIns="0" rtlCol="0" anchor="ctr"/>
          <a:lstStyle/>
          <a:p>
            <a:pPr marL="0" indent="0">
              <a:buNone/>
            </a:pPr>
            <a:r>
              <a:rPr lang="en-US" sz="1600" b="1" dirty="0">
                <a:solidFill>
                  <a:srgbClr val="23202E"/>
                </a:solidFill>
                <a:latin typeface="Calibri" pitchFamily="34" charset="0"/>
                <a:ea typeface="Calibri" pitchFamily="34" charset="-122"/>
                <a:cs typeface="Calibri" pitchFamily="34" charset="-120"/>
              </a:rPr>
              <a:t>3 · Replace</a:t>
            </a:r>
            <a:endParaRPr lang="en-US" sz="1600" dirty="0"/>
          </a:p>
        </p:txBody>
      </p:sp>
      <p:sp>
        <p:nvSpPr>
          <p:cNvPr id="20" name="Text 15"/>
          <p:cNvSpPr/>
          <p:nvPr/>
        </p:nvSpPr>
        <p:spPr>
          <a:xfrm>
            <a:off x="6469380" y="3063240"/>
            <a:ext cx="2057400" cy="1005840"/>
          </a:xfrm>
          <a:prstGeom prst="rect">
            <a:avLst/>
          </a:prstGeom>
          <a:noFill/>
          <a:ln/>
        </p:spPr>
        <p:txBody>
          <a:bodyPr wrap="square" lIns="0" tIns="0" rIns="0" bIns="0" rtlCol="0" anchor="ctr"/>
          <a:lstStyle/>
          <a:p>
            <a:pPr marL="0" indent="0">
              <a:lnSpc>
                <a:spcPts val="1600"/>
              </a:lnSpc>
              <a:buNone/>
            </a:pPr>
            <a:r>
              <a:rPr lang="en-US" sz="1200" dirty="0">
                <a:solidFill>
                  <a:srgbClr val="6F6B7D"/>
                </a:solidFill>
                <a:latin typeface="Calibri" pitchFamily="34" charset="0"/>
                <a:ea typeface="Calibri" pitchFamily="34" charset="-122"/>
                <a:cs typeface="Calibri" pitchFamily="34" charset="-120"/>
              </a:rPr>
              <a:t>Swap individual pieces for AI-built custom components, one spec at a time.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marL="0" indent="0">
              <a:buNone/>
            </a:pPr>
            <a:r>
              <a:rPr lang="en-US" sz="1200" b="1" kern="0" spc="300" dirty="0">
                <a:solidFill>
                  <a:srgbClr val="6E56CF"/>
                </a:solidFill>
                <a:latin typeface="Calibri" pitchFamily="34" charset="0"/>
                <a:ea typeface="Calibri" pitchFamily="34" charset="-122"/>
                <a:cs typeface="Calibri" pitchFamily="34" charset="-120"/>
              </a:rPr>
              <a:t>TAKEAWAYS</a:t>
            </a:r>
            <a:endParaRPr lang="en-US" sz="1200" dirty="0"/>
          </a:p>
        </p:txBody>
      </p:sp>
      <p:sp>
        <p:nvSpPr>
          <p:cNvPr id="3" name="Text 1"/>
          <p:cNvSpPr/>
          <p:nvPr/>
        </p:nvSpPr>
        <p:spPr>
          <a:xfrm>
            <a:off x="548640" y="658368"/>
            <a:ext cx="8046720" cy="594360"/>
          </a:xfrm>
          <a:prstGeom prst="rect">
            <a:avLst/>
          </a:prstGeom>
          <a:noFill/>
          <a:ln/>
        </p:spPr>
        <p:txBody>
          <a:bodyPr wrap="square" lIns="0" tIns="0" rIns="0" bIns="0" rtlCol="0" anchor="ctr"/>
          <a:lstStyle/>
          <a:p>
            <a:pPr marL="0" indent="0">
              <a:buNone/>
            </a:pPr>
            <a:r>
              <a:rPr lang="en-US" sz="3000" b="1" dirty="0">
                <a:solidFill>
                  <a:srgbClr val="23202E"/>
                </a:solidFill>
                <a:latin typeface="Calibri" pitchFamily="34" charset="0"/>
                <a:ea typeface="Calibri" pitchFamily="34" charset="-122"/>
                <a:cs typeface="Calibri" pitchFamily="34" charset="-120"/>
              </a:rPr>
              <a:t>Three things to remember</a:t>
            </a:r>
            <a:endParaRPr lang="en-US" sz="3000" dirty="0"/>
          </a:p>
        </p:txBody>
      </p:sp>
      <p:sp>
        <p:nvSpPr>
          <p:cNvPr id="4" name="Text 2"/>
          <p:cNvSpPr/>
          <p:nvPr/>
        </p:nvSpPr>
        <p:spPr>
          <a:xfrm>
            <a:off x="685800" y="1691640"/>
            <a:ext cx="822960" cy="731520"/>
          </a:xfrm>
          <a:prstGeom prst="rect">
            <a:avLst/>
          </a:prstGeom>
          <a:noFill/>
          <a:ln/>
        </p:spPr>
        <p:txBody>
          <a:bodyPr wrap="square" lIns="0" tIns="0" rIns="0" bIns="0" rtlCol="0" anchor="ctr"/>
          <a:lstStyle/>
          <a:p>
            <a:pPr marL="0" indent="0">
              <a:buNone/>
            </a:pPr>
            <a:r>
              <a:rPr lang="en-US" sz="3000" b="1" dirty="0">
                <a:solidFill>
                  <a:srgbClr val="6E56CF"/>
                </a:solidFill>
                <a:latin typeface="Calibri" pitchFamily="34" charset="0"/>
                <a:ea typeface="Calibri" pitchFamily="34" charset="-122"/>
                <a:cs typeface="Calibri" pitchFamily="34" charset="-120"/>
              </a:rPr>
              <a:t>01</a:t>
            </a:r>
            <a:endParaRPr lang="en-US" sz="3000" dirty="0"/>
          </a:p>
        </p:txBody>
      </p:sp>
      <p:sp>
        <p:nvSpPr>
          <p:cNvPr id="5" name="Text 3"/>
          <p:cNvSpPr/>
          <p:nvPr/>
        </p:nvSpPr>
        <p:spPr>
          <a:xfrm>
            <a:off x="1691640" y="1709928"/>
            <a:ext cx="6766560" cy="365760"/>
          </a:xfrm>
          <a:prstGeom prst="rect">
            <a:avLst/>
          </a:prstGeom>
          <a:noFill/>
          <a:ln/>
        </p:spPr>
        <p:txBody>
          <a:bodyPr wrap="square" lIns="0" tIns="0" rIns="0" bIns="0" rtlCol="0" anchor="ctr"/>
          <a:lstStyle/>
          <a:p>
            <a:pPr marL="0" indent="0">
              <a:buNone/>
            </a:pPr>
            <a:r>
              <a:rPr lang="en-US" sz="1650" b="1" dirty="0">
                <a:solidFill>
                  <a:srgbClr val="23202E"/>
                </a:solidFill>
                <a:latin typeface="Calibri" pitchFamily="34" charset="0"/>
                <a:ea typeface="Calibri" pitchFamily="34" charset="-122"/>
                <a:cs typeface="Calibri" pitchFamily="34" charset="-120"/>
              </a:rPr>
              <a:t>The component you need is one spec away</a:t>
            </a:r>
            <a:endParaRPr lang="en-US" sz="1650" dirty="0"/>
          </a:p>
        </p:txBody>
      </p:sp>
      <p:sp>
        <p:nvSpPr>
          <p:cNvPr id="6" name="Text 4"/>
          <p:cNvSpPr/>
          <p:nvPr/>
        </p:nvSpPr>
        <p:spPr>
          <a:xfrm>
            <a:off x="1691640" y="2075688"/>
            <a:ext cx="6766560" cy="320040"/>
          </a:xfrm>
          <a:prstGeom prst="rect">
            <a:avLst/>
          </a:prstGeom>
          <a:noFill/>
          <a:ln/>
        </p:spPr>
        <p:txBody>
          <a:bodyPr wrap="square" lIns="0" tIns="0" rIns="0" bIns="0" rtlCol="0" anchor="ctr"/>
          <a:lstStyle/>
          <a:p>
            <a:pPr marL="0" indent="0">
              <a:buNone/>
            </a:pPr>
            <a:r>
              <a:rPr lang="en-US" sz="1250" dirty="0">
                <a:solidFill>
                  <a:srgbClr val="6F6B7D"/>
                </a:solidFill>
                <a:latin typeface="Calibri" pitchFamily="34" charset="0"/>
                <a:ea typeface="Calibri" pitchFamily="34" charset="-122"/>
                <a:cs typeface="Calibri" pitchFamily="34" charset="-120"/>
              </a:rPr>
              <a:t>Props, events, behavior — that's the whole prompt.</a:t>
            </a:r>
            <a:endParaRPr lang="en-US" sz="1250" dirty="0"/>
          </a:p>
        </p:txBody>
      </p:sp>
      <p:sp>
        <p:nvSpPr>
          <p:cNvPr id="7" name="Text 5"/>
          <p:cNvSpPr/>
          <p:nvPr/>
        </p:nvSpPr>
        <p:spPr>
          <a:xfrm>
            <a:off x="685800" y="2651760"/>
            <a:ext cx="822960" cy="731520"/>
          </a:xfrm>
          <a:prstGeom prst="rect">
            <a:avLst/>
          </a:prstGeom>
          <a:noFill/>
          <a:ln/>
        </p:spPr>
        <p:txBody>
          <a:bodyPr wrap="square" lIns="0" tIns="0" rIns="0" bIns="0" rtlCol="0" anchor="ctr"/>
          <a:lstStyle/>
          <a:p>
            <a:pPr marL="0" indent="0">
              <a:buNone/>
            </a:pPr>
            <a:r>
              <a:rPr lang="en-US" sz="3000" b="1" dirty="0">
                <a:solidFill>
                  <a:srgbClr val="6E56CF"/>
                </a:solidFill>
                <a:latin typeface="Calibri" pitchFamily="34" charset="0"/>
                <a:ea typeface="Calibri" pitchFamily="34" charset="-122"/>
                <a:cs typeface="Calibri" pitchFamily="34" charset="-120"/>
              </a:rPr>
              <a:t>02</a:t>
            </a:r>
            <a:endParaRPr lang="en-US" sz="3000" dirty="0"/>
          </a:p>
        </p:txBody>
      </p:sp>
      <p:sp>
        <p:nvSpPr>
          <p:cNvPr id="8" name="Text 6"/>
          <p:cNvSpPr/>
          <p:nvPr/>
        </p:nvSpPr>
        <p:spPr>
          <a:xfrm>
            <a:off x="1691640" y="2670048"/>
            <a:ext cx="6766560" cy="365760"/>
          </a:xfrm>
          <a:prstGeom prst="rect">
            <a:avLst/>
          </a:prstGeom>
          <a:noFill/>
          <a:ln/>
        </p:spPr>
        <p:txBody>
          <a:bodyPr wrap="square" lIns="0" tIns="0" rIns="0" bIns="0" rtlCol="0" anchor="ctr"/>
          <a:lstStyle/>
          <a:p>
            <a:pPr marL="0" indent="0">
              <a:buNone/>
            </a:pPr>
            <a:r>
              <a:rPr lang="en-US" sz="1650" b="1" dirty="0">
                <a:solidFill>
                  <a:srgbClr val="23202E"/>
                </a:solidFill>
                <a:latin typeface="Calibri" pitchFamily="34" charset="0"/>
                <a:ea typeface="Calibri" pitchFamily="34" charset="-122"/>
                <a:cs typeface="Calibri" pitchFamily="34" charset="-120"/>
              </a:rPr>
              <a:t>Your 4D data model is already web-ready</a:t>
            </a:r>
            <a:endParaRPr lang="en-US" sz="1650" dirty="0"/>
          </a:p>
        </p:txBody>
      </p:sp>
      <p:sp>
        <p:nvSpPr>
          <p:cNvPr id="9" name="Text 7"/>
          <p:cNvSpPr/>
          <p:nvPr/>
        </p:nvSpPr>
        <p:spPr>
          <a:xfrm>
            <a:off x="1691640" y="3035808"/>
            <a:ext cx="6766560" cy="320040"/>
          </a:xfrm>
          <a:prstGeom prst="rect">
            <a:avLst/>
          </a:prstGeom>
          <a:noFill/>
          <a:ln/>
        </p:spPr>
        <p:txBody>
          <a:bodyPr wrap="square" lIns="0" tIns="0" rIns="0" bIns="0" rtlCol="0" anchor="ctr"/>
          <a:lstStyle/>
          <a:p>
            <a:pPr marL="0" indent="0">
              <a:buNone/>
            </a:pPr>
            <a:r>
              <a:rPr lang="en-US" sz="1250" dirty="0">
                <a:solidFill>
                  <a:srgbClr val="6F6B7D"/>
                </a:solidFill>
                <a:latin typeface="Calibri" pitchFamily="34" charset="0"/>
                <a:ea typeface="Calibri" pitchFamily="34" charset="-122"/>
                <a:cs typeface="Calibri" pitchFamily="34" charset="-120"/>
              </a:rPr>
              <a:t>Same classes, same queries — 4D </a:t>
            </a:r>
            <a:r>
              <a:rPr lang="en-US" sz="1250" dirty="0" err="1">
                <a:solidFill>
                  <a:srgbClr val="6F6B7D"/>
                </a:solidFill>
                <a:latin typeface="Calibri" pitchFamily="34" charset="0"/>
                <a:ea typeface="Calibri" pitchFamily="34" charset="-122"/>
                <a:cs typeface="Calibri" pitchFamily="34" charset="-120"/>
              </a:rPr>
              <a:t>Qodly</a:t>
            </a:r>
            <a:r>
              <a:rPr lang="en-US" sz="1250" dirty="0">
                <a:solidFill>
                  <a:srgbClr val="6F6B7D"/>
                </a:solidFill>
                <a:latin typeface="Calibri" pitchFamily="34" charset="0"/>
                <a:ea typeface="Calibri" pitchFamily="34" charset="-122"/>
                <a:cs typeface="Calibri" pitchFamily="34" charset="-120"/>
              </a:rPr>
              <a:t> Pro ships inside 4D, no separate platform.</a:t>
            </a:r>
            <a:endParaRPr lang="en-US" sz="1250" dirty="0"/>
          </a:p>
        </p:txBody>
      </p:sp>
      <p:sp>
        <p:nvSpPr>
          <p:cNvPr id="10" name="Text 8"/>
          <p:cNvSpPr/>
          <p:nvPr/>
        </p:nvSpPr>
        <p:spPr>
          <a:xfrm>
            <a:off x="685800" y="3611880"/>
            <a:ext cx="822960" cy="731520"/>
          </a:xfrm>
          <a:prstGeom prst="rect">
            <a:avLst/>
          </a:prstGeom>
          <a:noFill/>
          <a:ln/>
        </p:spPr>
        <p:txBody>
          <a:bodyPr wrap="square" lIns="0" tIns="0" rIns="0" bIns="0" rtlCol="0" anchor="ctr"/>
          <a:lstStyle/>
          <a:p>
            <a:pPr marL="0" indent="0">
              <a:buNone/>
            </a:pPr>
            <a:r>
              <a:rPr lang="en-US" sz="3000" b="1" dirty="0">
                <a:solidFill>
                  <a:srgbClr val="6E56CF"/>
                </a:solidFill>
                <a:latin typeface="Calibri" pitchFamily="34" charset="0"/>
                <a:ea typeface="Calibri" pitchFamily="34" charset="-122"/>
                <a:cs typeface="Calibri" pitchFamily="34" charset="-120"/>
              </a:rPr>
              <a:t>03</a:t>
            </a:r>
            <a:endParaRPr lang="en-US" sz="3000" dirty="0"/>
          </a:p>
        </p:txBody>
      </p:sp>
      <p:sp>
        <p:nvSpPr>
          <p:cNvPr id="11" name="Text 9"/>
          <p:cNvSpPr/>
          <p:nvPr/>
        </p:nvSpPr>
        <p:spPr>
          <a:xfrm>
            <a:off x="1691640" y="3630168"/>
            <a:ext cx="6766560" cy="365760"/>
          </a:xfrm>
          <a:prstGeom prst="rect">
            <a:avLst/>
          </a:prstGeom>
          <a:noFill/>
          <a:ln/>
        </p:spPr>
        <p:txBody>
          <a:bodyPr wrap="square" lIns="0" tIns="0" rIns="0" bIns="0" rtlCol="0" anchor="ctr"/>
          <a:lstStyle/>
          <a:p>
            <a:pPr marL="0" indent="0">
              <a:buNone/>
            </a:pPr>
            <a:r>
              <a:rPr lang="en-US" sz="1650" b="1" dirty="0">
                <a:solidFill>
                  <a:srgbClr val="23202E"/>
                </a:solidFill>
                <a:latin typeface="Calibri" pitchFamily="34" charset="0"/>
                <a:ea typeface="Calibri" pitchFamily="34" charset="-122"/>
                <a:cs typeface="Calibri" pitchFamily="34" charset="-120"/>
              </a:rPr>
              <a:t>Modernize incrementally, ship continuously</a:t>
            </a:r>
            <a:endParaRPr lang="en-US" sz="1650" dirty="0"/>
          </a:p>
        </p:txBody>
      </p:sp>
      <p:sp>
        <p:nvSpPr>
          <p:cNvPr id="12" name="Text 10"/>
          <p:cNvSpPr/>
          <p:nvPr/>
        </p:nvSpPr>
        <p:spPr>
          <a:xfrm>
            <a:off x="1691640" y="3995928"/>
            <a:ext cx="6766560" cy="320040"/>
          </a:xfrm>
          <a:prstGeom prst="rect">
            <a:avLst/>
          </a:prstGeom>
          <a:noFill/>
          <a:ln/>
        </p:spPr>
        <p:txBody>
          <a:bodyPr wrap="square" lIns="0" tIns="0" rIns="0" bIns="0" rtlCol="0" anchor="ctr"/>
          <a:lstStyle/>
          <a:p>
            <a:pPr marL="0" indent="0">
              <a:buNone/>
            </a:pPr>
            <a:r>
              <a:rPr lang="en-US" sz="1250" dirty="0">
                <a:solidFill>
                  <a:srgbClr val="6F6B7D"/>
                </a:solidFill>
                <a:latin typeface="Calibri" pitchFamily="34" charset="0"/>
                <a:ea typeface="Calibri" pitchFamily="34" charset="-122"/>
                <a:cs typeface="Calibri" pitchFamily="34" charset="-120"/>
              </a:rPr>
              <a:t>Replace one control at a time while the desktop app keeps running.</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191233"/>
        </a:solidFill>
        <a:effectLst/>
      </p:bgPr>
    </p:bg>
    <p:spTree>
      <p:nvGrpSpPr>
        <p:cNvPr id="1" name=""/>
        <p:cNvGrpSpPr/>
        <p:nvPr/>
      </p:nvGrpSpPr>
      <p:grpSpPr>
        <a:xfrm>
          <a:off x="0" y="0"/>
          <a:ext cx="0" cy="0"/>
          <a:chOff x="0" y="0"/>
          <a:chExt cx="0" cy="0"/>
        </a:xfrm>
      </p:grpSpPr>
      <p:sp>
        <p:nvSpPr>
          <p:cNvPr id="2" name="Shape 0"/>
          <p:cNvSpPr/>
          <p:nvPr/>
        </p:nvSpPr>
        <p:spPr>
          <a:xfrm>
            <a:off x="-1463040" y="-1645920"/>
            <a:ext cx="4206240" cy="4206240"/>
          </a:xfrm>
          <a:prstGeom prst="ellipse">
            <a:avLst/>
          </a:prstGeom>
          <a:solidFill>
            <a:srgbClr val="241A47"/>
          </a:solidFill>
          <a:ln/>
        </p:spPr>
        <p:txBody>
          <a:bodyPr/>
          <a:lstStyle/>
          <a:p>
            <a:endParaRPr lang="en-FR"/>
          </a:p>
        </p:txBody>
      </p:sp>
      <p:sp>
        <p:nvSpPr>
          <p:cNvPr id="3" name="Shape 1"/>
          <p:cNvSpPr/>
          <p:nvPr/>
        </p:nvSpPr>
        <p:spPr>
          <a:xfrm>
            <a:off x="7498080" y="3566160"/>
            <a:ext cx="3291840" cy="3291840"/>
          </a:xfrm>
          <a:prstGeom prst="ellipse">
            <a:avLst/>
          </a:prstGeom>
          <a:solidFill>
            <a:srgbClr val="221845"/>
          </a:solidFill>
          <a:ln/>
        </p:spPr>
        <p:txBody>
          <a:bodyPr/>
          <a:lstStyle/>
          <a:p>
            <a:endParaRPr lang="en-FR"/>
          </a:p>
        </p:txBody>
      </p:sp>
      <p:sp>
        <p:nvSpPr>
          <p:cNvPr id="4" name="Text 2"/>
          <p:cNvSpPr/>
          <p:nvPr/>
        </p:nvSpPr>
        <p:spPr>
          <a:xfrm>
            <a:off x="685800" y="1828800"/>
            <a:ext cx="7772400" cy="82296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Questions?</a:t>
            </a:r>
            <a:endParaRPr lang="en-US" sz="4000" dirty="0"/>
          </a:p>
        </p:txBody>
      </p:sp>
      <p:sp>
        <p:nvSpPr>
          <p:cNvPr id="5" name="Text 3"/>
          <p:cNvSpPr/>
          <p:nvPr/>
        </p:nvSpPr>
        <p:spPr>
          <a:xfrm>
            <a:off x="685800" y="2743200"/>
            <a:ext cx="7498080" cy="365760"/>
          </a:xfrm>
          <a:prstGeom prst="rect">
            <a:avLst/>
          </a:prstGeom>
          <a:noFill/>
          <a:ln/>
        </p:spPr>
        <p:txBody>
          <a:bodyPr wrap="square" lIns="0" tIns="0" rIns="0" bIns="0" rtlCol="0" anchor="ctr"/>
          <a:lstStyle/>
          <a:p>
            <a:pPr marL="0" indent="0">
              <a:buNone/>
            </a:pPr>
            <a:r>
              <a:rPr lang="en-US" sz="1600" i="1" dirty="0">
                <a:solidFill>
                  <a:srgbClr val="CFC8EA"/>
                </a:solidFill>
                <a:latin typeface="Calibri" pitchFamily="34" charset="0"/>
                <a:ea typeface="Calibri" pitchFamily="34" charset="-122"/>
                <a:cs typeface="Calibri" pitchFamily="34" charset="-120"/>
              </a:rPr>
              <a:t>Write the spec. Build the component. Modernize the app.</a:t>
            </a:r>
            <a:endParaRPr lang="en-US" sz="1600" dirty="0"/>
          </a:p>
        </p:txBody>
      </p:sp>
      <p:sp>
        <p:nvSpPr>
          <p:cNvPr id="6" name="Text 4"/>
          <p:cNvSpPr/>
          <p:nvPr/>
        </p:nvSpPr>
        <p:spPr>
          <a:xfrm>
            <a:off x="685800" y="3931920"/>
            <a:ext cx="7498080" cy="640080"/>
          </a:xfrm>
          <a:prstGeom prst="rect">
            <a:avLst/>
          </a:prstGeom>
          <a:noFill/>
          <a:ln/>
        </p:spPr>
        <p:txBody>
          <a:bodyPr wrap="square" lIns="0" tIns="0" rIns="0" bIns="0" rtlCol="0" anchor="ctr"/>
          <a:lstStyle/>
          <a:p>
            <a:pPr marL="0" indent="0">
              <a:lnSpc>
                <a:spcPts val="2000"/>
              </a:lnSpc>
              <a:buNone/>
            </a:pPr>
            <a:r>
              <a:rPr lang="en-US" sz="1300" dirty="0">
                <a:solidFill>
                  <a:srgbClr val="A99BE8"/>
                </a:solidFill>
                <a:latin typeface="Calibri" pitchFamily="34" charset="0"/>
                <a:ea typeface="Calibri" pitchFamily="34" charset="-122"/>
                <a:cs typeface="Calibri" pitchFamily="34" charset="-120"/>
              </a:rPr>
              <a:t>us.4d.com/4d-qodly-pro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8340</TotalTime>
  <Words>2324</Words>
  <Application>Microsoft Macintosh PowerPoint</Application>
  <PresentationFormat>On-screen Show (16:9)</PresentationFormat>
  <Paragraphs>243</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Modernize 4D Desktop Applications with AI and Qodly Pro</dc:title>
  <dc:subject>PptxGenJS Presentation</dc:subject>
  <dc:creator>PptxGenJS</dc:creator>
  <cp:lastModifiedBy>Ayoub Metwalli</cp:lastModifiedBy>
  <cp:revision>40</cp:revision>
  <dcterms:created xsi:type="dcterms:W3CDTF">2026-07-02T19:56:51Z</dcterms:created>
  <dcterms:modified xsi:type="dcterms:W3CDTF">2026-08-26T18:53:57Z</dcterms:modified>
</cp:coreProperties>
</file>